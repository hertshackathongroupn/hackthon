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</p:sldMasterIdLst>
  <p:notesMasterIdLst>
    <p:notesMasterId r:id="rId16"/>
  </p:notesMasterIdLst>
  <p:handoutMasterIdLst>
    <p:handoutMasterId r:id="rId17"/>
  </p:handoutMasterIdLst>
  <p:sldIdLst>
    <p:sldId id="257" r:id="rId5"/>
    <p:sldId id="262" r:id="rId6"/>
    <p:sldId id="258" r:id="rId7"/>
    <p:sldId id="259" r:id="rId8"/>
    <p:sldId id="260" r:id="rId9"/>
    <p:sldId id="261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495A"/>
    <a:srgbClr val="494A5B"/>
    <a:srgbClr val="494A5C"/>
    <a:srgbClr val="4647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133EF9-E6D3-40D8-80C0-17BC9F3D05E0}" v="7" dt="2026-06-08T17:25:40.6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 varScale="1">
        <p:scale>
          <a:sx n="82" d="100"/>
          <a:sy n="82" d="100"/>
        </p:scale>
        <p:origin x="8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240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un Paka" userId="3f8e1d08ee0c9779" providerId="LiveId" clId="{6F6A9D72-D0A5-4D09-98AB-84F44BF8D27A}"/>
    <pc:docChg chg="modSld">
      <pc:chgData name="Varun Paka" userId="3f8e1d08ee0c9779" providerId="LiveId" clId="{6F6A9D72-D0A5-4D09-98AB-84F44BF8D27A}" dt="2026-06-08T17:26:18.809" v="34" actId="20577"/>
      <pc:docMkLst>
        <pc:docMk/>
      </pc:docMkLst>
      <pc:sldChg chg="modSp mod">
        <pc:chgData name="Varun Paka" userId="3f8e1d08ee0c9779" providerId="LiveId" clId="{6F6A9D72-D0A5-4D09-98AB-84F44BF8D27A}" dt="2026-06-08T17:26:18.809" v="34" actId="20577"/>
        <pc:sldMkLst>
          <pc:docMk/>
          <pc:sldMk cId="1297645743" sldId="257"/>
        </pc:sldMkLst>
        <pc:spChg chg="mod">
          <ac:chgData name="Varun Paka" userId="3f8e1d08ee0c9779" providerId="LiveId" clId="{6F6A9D72-D0A5-4D09-98AB-84F44BF8D27A}" dt="2026-06-08T17:26:18.809" v="34" actId="20577"/>
          <ac:spMkLst>
            <pc:docMk/>
            <pc:sldMk cId="1297645743" sldId="257"/>
            <ac:spMk id="6" creationId="{FAF36172-1069-70EA-5AFD-DF517147D8B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560B6B-963E-45AD-B18D-9DA3469D83C9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B61BEE-A6B4-49DE-8859-2A55F155C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930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8D2A0D-6B45-4215-8A49-D14849101A69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E6A182-AF03-4CC8-94DC-C0726DF52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640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E6A182-AF03-4CC8-94DC-C0726DF52A6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75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E626-6EB7-4D9A-AD4A-B54D1684CAD1}" type="datetime1">
              <a:rPr lang="en-US" smtClean="0"/>
              <a:t>6/8/2026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62707" y="2320335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62707" y="288339"/>
            <a:ext cx="109728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 algn="l">
              <a:defRPr sz="4800" b="1" cap="all" baseline="0">
                <a:ln w="6350">
                  <a:noFill/>
                </a:ln>
                <a:solidFill>
                  <a:schemeClr val="accent2"/>
                </a:soli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386028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24A36-10EA-4DE5-9251-C62AA44714D2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20158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95A85-13CC-45EA-B1A6-5B8E77AB646B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66400" y="6416676"/>
            <a:ext cx="1016000" cy="365125"/>
          </a:xfrm>
        </p:spPr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ubtitle 8"/>
          <p:cNvSpPr>
            <a:spLocks noGrp="1"/>
          </p:cNvSpPr>
          <p:nvPr>
            <p:ph type="subTitle" idx="1"/>
          </p:nvPr>
        </p:nvSpPr>
        <p:spPr>
          <a:xfrm>
            <a:off x="562707" y="2320335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Title 7"/>
          <p:cNvSpPr>
            <a:spLocks noGrp="1"/>
          </p:cNvSpPr>
          <p:nvPr>
            <p:ph type="ctrTitle"/>
          </p:nvPr>
        </p:nvSpPr>
        <p:spPr>
          <a:xfrm>
            <a:off x="562707" y="288339"/>
            <a:ext cx="109728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 algn="l"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226335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71815-F531-4787-BA2A-626422C133AD}" type="datetime1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18383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4885B-3C5C-43BB-9862-47948E5DF551}" type="datetime1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362201"/>
            <a:ext cx="5389033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535113"/>
            <a:ext cx="5389033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362201"/>
            <a:ext cx="5386917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41844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3B6AF-AB61-4D8E-B7B7-705C5ACEBBCC}" type="datetime1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93208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3EC9A-B094-4092-8061-75D86CB34931}" type="datetime1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768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1AEED-2323-4359-853E-316DF6600362}" type="datetime1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1" y="1524001"/>
            <a:ext cx="4011084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1">
                <a:ln w="6350"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777504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AC2DF-F1FD-4724-A563-92BADFC82ECC}" type="datetime1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38400" y="1831975"/>
            <a:ext cx="7315200" cy="3962400"/>
          </a:xfrm>
          <a:solidFill>
            <a:schemeClr val="bg2">
              <a:lumMod val="20000"/>
              <a:lumOff val="80000"/>
            </a:schemeClr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marL="0" indent="0" algn="l" rtl="0" eaLnBrk="1" latinLnBrk="0" hangingPunct="1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8400" y="1166787"/>
            <a:ext cx="73152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609600"/>
            <a:ext cx="73152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14466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32EDF-E99E-4C68-AFCB-7A835B309D6D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203361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2D85F-A551-4C69-800A-8CFFA2306A88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43518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" y="6416676"/>
            <a:ext cx="28448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8D20E2CF-D74B-4B51-899A-DCEA821C90C7}" type="datetime1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165600" y="6416676"/>
            <a:ext cx="38608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566400" y="6416676"/>
            <a:ext cx="1016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grpSp>
        <p:nvGrpSpPr>
          <p:cNvPr id="24" name="Group 18"/>
          <p:cNvGrpSpPr>
            <a:grpSpLocks/>
          </p:cNvGrpSpPr>
          <p:nvPr/>
        </p:nvGrpSpPr>
        <p:grpSpPr bwMode="auto">
          <a:xfrm>
            <a:off x="4263969" y="1960564"/>
            <a:ext cx="3762431" cy="4821237"/>
            <a:chOff x="1365" y="355"/>
            <a:chExt cx="3024" cy="3875"/>
          </a:xfrm>
          <a:solidFill>
            <a:schemeClr val="bg2">
              <a:lumMod val="50000"/>
              <a:alpha val="20000"/>
            </a:schemeClr>
          </a:solidFill>
        </p:grpSpPr>
        <p:sp>
          <p:nvSpPr>
            <p:cNvPr id="25" name="Freeform 2"/>
            <p:cNvSpPr>
              <a:spLocks/>
            </p:cNvSpPr>
            <p:nvPr/>
          </p:nvSpPr>
          <p:spPr bwMode="auto">
            <a:xfrm>
              <a:off x="2835" y="586"/>
              <a:ext cx="88" cy="1121"/>
            </a:xfrm>
            <a:custGeom>
              <a:avLst/>
              <a:gdLst>
                <a:gd name="T0" fmla="*/ 0 w 88"/>
                <a:gd name="T1" fmla="*/ 1120 h 1121"/>
                <a:gd name="T2" fmla="*/ 0 w 88"/>
                <a:gd name="T3" fmla="*/ 0 h 1121"/>
                <a:gd name="T4" fmla="*/ 87 w 88"/>
                <a:gd name="T5" fmla="*/ 0 h 1121"/>
                <a:gd name="T6" fmla="*/ 87 w 88"/>
                <a:gd name="T7" fmla="*/ 1085 h 1121"/>
                <a:gd name="T8" fmla="*/ 0 w 88"/>
                <a:gd name="T9" fmla="*/ 1120 h 1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1121">
                  <a:moveTo>
                    <a:pt x="0" y="1120"/>
                  </a:moveTo>
                  <a:lnTo>
                    <a:pt x="0" y="0"/>
                  </a:lnTo>
                  <a:lnTo>
                    <a:pt x="87" y="0"/>
                  </a:lnTo>
                  <a:lnTo>
                    <a:pt x="87" y="1085"/>
                  </a:lnTo>
                  <a:lnTo>
                    <a:pt x="0" y="112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3"/>
            <p:cNvSpPr>
              <a:spLocks/>
            </p:cNvSpPr>
            <p:nvPr/>
          </p:nvSpPr>
          <p:spPr bwMode="auto">
            <a:xfrm>
              <a:off x="2834" y="1900"/>
              <a:ext cx="84" cy="363"/>
            </a:xfrm>
            <a:custGeom>
              <a:avLst/>
              <a:gdLst>
                <a:gd name="T0" fmla="*/ 0 w 84"/>
                <a:gd name="T1" fmla="*/ 29 h 363"/>
                <a:gd name="T2" fmla="*/ 83 w 84"/>
                <a:gd name="T3" fmla="*/ 0 h 363"/>
                <a:gd name="T4" fmla="*/ 74 w 84"/>
                <a:gd name="T5" fmla="*/ 329 h 363"/>
                <a:gd name="T6" fmla="*/ 0 w 84"/>
                <a:gd name="T7" fmla="*/ 362 h 363"/>
                <a:gd name="T8" fmla="*/ 0 w 84"/>
                <a:gd name="T9" fmla="*/ 29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363">
                  <a:moveTo>
                    <a:pt x="0" y="29"/>
                  </a:moveTo>
                  <a:lnTo>
                    <a:pt x="83" y="0"/>
                  </a:lnTo>
                  <a:lnTo>
                    <a:pt x="74" y="329"/>
                  </a:lnTo>
                  <a:lnTo>
                    <a:pt x="0" y="362"/>
                  </a:lnTo>
                  <a:lnTo>
                    <a:pt x="0" y="2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4"/>
            <p:cNvSpPr>
              <a:spLocks/>
            </p:cNvSpPr>
            <p:nvPr/>
          </p:nvSpPr>
          <p:spPr bwMode="auto">
            <a:xfrm>
              <a:off x="2825" y="2493"/>
              <a:ext cx="84" cy="249"/>
            </a:xfrm>
            <a:custGeom>
              <a:avLst/>
              <a:gdLst>
                <a:gd name="T0" fmla="*/ 2 w 84"/>
                <a:gd name="T1" fmla="*/ 213 h 249"/>
                <a:gd name="T2" fmla="*/ 0 w 84"/>
                <a:gd name="T3" fmla="*/ 28 h 249"/>
                <a:gd name="T4" fmla="*/ 83 w 84"/>
                <a:gd name="T5" fmla="*/ 0 h 249"/>
                <a:gd name="T6" fmla="*/ 72 w 84"/>
                <a:gd name="T7" fmla="*/ 248 h 249"/>
                <a:gd name="T8" fmla="*/ 2 w 84"/>
                <a:gd name="T9" fmla="*/ 213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249">
                  <a:moveTo>
                    <a:pt x="2" y="213"/>
                  </a:moveTo>
                  <a:lnTo>
                    <a:pt x="0" y="28"/>
                  </a:lnTo>
                  <a:lnTo>
                    <a:pt x="83" y="0"/>
                  </a:lnTo>
                  <a:lnTo>
                    <a:pt x="72" y="248"/>
                  </a:lnTo>
                  <a:lnTo>
                    <a:pt x="2" y="213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5"/>
            <p:cNvSpPr>
              <a:spLocks/>
            </p:cNvSpPr>
            <p:nvPr/>
          </p:nvSpPr>
          <p:spPr bwMode="auto">
            <a:xfrm>
              <a:off x="2831" y="2965"/>
              <a:ext cx="52" cy="232"/>
            </a:xfrm>
            <a:custGeom>
              <a:avLst/>
              <a:gdLst>
                <a:gd name="T0" fmla="*/ 13 w 52"/>
                <a:gd name="T1" fmla="*/ 204 h 232"/>
                <a:gd name="T2" fmla="*/ 0 w 52"/>
                <a:gd name="T3" fmla="*/ 0 h 232"/>
                <a:gd name="T4" fmla="*/ 51 w 52"/>
                <a:gd name="T5" fmla="*/ 26 h 232"/>
                <a:gd name="T6" fmla="*/ 47 w 52"/>
                <a:gd name="T7" fmla="*/ 231 h 232"/>
                <a:gd name="T8" fmla="*/ 13 w 52"/>
                <a:gd name="T9" fmla="*/ 204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232">
                  <a:moveTo>
                    <a:pt x="13" y="204"/>
                  </a:moveTo>
                  <a:lnTo>
                    <a:pt x="0" y="0"/>
                  </a:lnTo>
                  <a:lnTo>
                    <a:pt x="51" y="26"/>
                  </a:lnTo>
                  <a:lnTo>
                    <a:pt x="47" y="231"/>
                  </a:lnTo>
                  <a:lnTo>
                    <a:pt x="13" y="20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6"/>
            <p:cNvSpPr>
              <a:spLocks/>
            </p:cNvSpPr>
            <p:nvPr/>
          </p:nvSpPr>
          <p:spPr bwMode="auto">
            <a:xfrm>
              <a:off x="2851" y="3354"/>
              <a:ext cx="36" cy="133"/>
            </a:xfrm>
            <a:custGeom>
              <a:avLst/>
              <a:gdLst>
                <a:gd name="T0" fmla="*/ 4 w 36"/>
                <a:gd name="T1" fmla="*/ 101 h 133"/>
                <a:gd name="T2" fmla="*/ 0 w 36"/>
                <a:gd name="T3" fmla="*/ 0 h 133"/>
                <a:gd name="T4" fmla="*/ 35 w 36"/>
                <a:gd name="T5" fmla="*/ 20 h 133"/>
                <a:gd name="T6" fmla="*/ 28 w 36"/>
                <a:gd name="T7" fmla="*/ 132 h 133"/>
                <a:gd name="T8" fmla="*/ 4 w 36"/>
                <a:gd name="T9" fmla="*/ 101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33">
                  <a:moveTo>
                    <a:pt x="4" y="101"/>
                  </a:moveTo>
                  <a:lnTo>
                    <a:pt x="0" y="0"/>
                  </a:lnTo>
                  <a:lnTo>
                    <a:pt x="35" y="20"/>
                  </a:lnTo>
                  <a:lnTo>
                    <a:pt x="28" y="132"/>
                  </a:lnTo>
                  <a:lnTo>
                    <a:pt x="4" y="101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7"/>
            <p:cNvSpPr>
              <a:spLocks/>
            </p:cNvSpPr>
            <p:nvPr/>
          </p:nvSpPr>
          <p:spPr bwMode="auto">
            <a:xfrm>
              <a:off x="2851" y="3640"/>
              <a:ext cx="30" cy="590"/>
            </a:xfrm>
            <a:custGeom>
              <a:avLst/>
              <a:gdLst>
                <a:gd name="T0" fmla="*/ 15 w 30"/>
                <a:gd name="T1" fmla="*/ 589 h 590"/>
                <a:gd name="T2" fmla="*/ 0 w 30"/>
                <a:gd name="T3" fmla="*/ 0 h 590"/>
                <a:gd name="T4" fmla="*/ 29 w 30"/>
                <a:gd name="T5" fmla="*/ 37 h 590"/>
                <a:gd name="T6" fmla="*/ 15 w 30"/>
                <a:gd name="T7" fmla="*/ 589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590">
                  <a:moveTo>
                    <a:pt x="15" y="589"/>
                  </a:moveTo>
                  <a:lnTo>
                    <a:pt x="0" y="0"/>
                  </a:lnTo>
                  <a:lnTo>
                    <a:pt x="29" y="37"/>
                  </a:lnTo>
                  <a:lnTo>
                    <a:pt x="15" y="58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8"/>
            <p:cNvSpPr>
              <a:spLocks/>
            </p:cNvSpPr>
            <p:nvPr/>
          </p:nvSpPr>
          <p:spPr bwMode="auto">
            <a:xfrm>
              <a:off x="2600" y="3595"/>
              <a:ext cx="233" cy="130"/>
            </a:xfrm>
            <a:custGeom>
              <a:avLst/>
              <a:gdLst>
                <a:gd name="T0" fmla="*/ 0 w 233"/>
                <a:gd name="T1" fmla="*/ 117 h 130"/>
                <a:gd name="T2" fmla="*/ 48 w 233"/>
                <a:gd name="T3" fmla="*/ 101 h 130"/>
                <a:gd name="T4" fmla="*/ 93 w 233"/>
                <a:gd name="T5" fmla="*/ 79 h 130"/>
                <a:gd name="T6" fmla="*/ 146 w 233"/>
                <a:gd name="T7" fmla="*/ 39 h 130"/>
                <a:gd name="T8" fmla="*/ 182 w 233"/>
                <a:gd name="T9" fmla="*/ 0 h 130"/>
                <a:gd name="T10" fmla="*/ 232 w 233"/>
                <a:gd name="T11" fmla="*/ 42 h 130"/>
                <a:gd name="T12" fmla="*/ 188 w 233"/>
                <a:gd name="T13" fmla="*/ 74 h 130"/>
                <a:gd name="T14" fmla="*/ 134 w 233"/>
                <a:gd name="T15" fmla="*/ 110 h 130"/>
                <a:gd name="T16" fmla="*/ 61 w 233"/>
                <a:gd name="T17" fmla="*/ 129 h 130"/>
                <a:gd name="T18" fmla="*/ 0 w 233"/>
                <a:gd name="T19" fmla="*/ 117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3" h="130">
                  <a:moveTo>
                    <a:pt x="0" y="117"/>
                  </a:moveTo>
                  <a:lnTo>
                    <a:pt x="48" y="101"/>
                  </a:lnTo>
                  <a:lnTo>
                    <a:pt x="93" y="79"/>
                  </a:lnTo>
                  <a:lnTo>
                    <a:pt x="146" y="39"/>
                  </a:lnTo>
                  <a:lnTo>
                    <a:pt x="182" y="0"/>
                  </a:lnTo>
                  <a:lnTo>
                    <a:pt x="232" y="42"/>
                  </a:lnTo>
                  <a:lnTo>
                    <a:pt x="188" y="74"/>
                  </a:lnTo>
                  <a:lnTo>
                    <a:pt x="134" y="110"/>
                  </a:lnTo>
                  <a:lnTo>
                    <a:pt x="61" y="129"/>
                  </a:lnTo>
                  <a:lnTo>
                    <a:pt x="0" y="11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9"/>
            <p:cNvSpPr>
              <a:spLocks/>
            </p:cNvSpPr>
            <p:nvPr/>
          </p:nvSpPr>
          <p:spPr bwMode="auto">
            <a:xfrm>
              <a:off x="2583" y="2888"/>
              <a:ext cx="465" cy="646"/>
            </a:xfrm>
            <a:custGeom>
              <a:avLst/>
              <a:gdLst>
                <a:gd name="T0" fmla="*/ 359 w 465"/>
                <a:gd name="T1" fmla="*/ 645 h 646"/>
                <a:gd name="T2" fmla="*/ 405 w 465"/>
                <a:gd name="T3" fmla="*/ 616 h 646"/>
                <a:gd name="T4" fmla="*/ 447 w 465"/>
                <a:gd name="T5" fmla="*/ 580 h 646"/>
                <a:gd name="T6" fmla="*/ 460 w 465"/>
                <a:gd name="T7" fmla="*/ 552 h 646"/>
                <a:gd name="T8" fmla="*/ 464 w 465"/>
                <a:gd name="T9" fmla="*/ 515 h 646"/>
                <a:gd name="T10" fmla="*/ 451 w 465"/>
                <a:gd name="T11" fmla="*/ 468 h 646"/>
                <a:gd name="T12" fmla="*/ 424 w 465"/>
                <a:gd name="T13" fmla="*/ 424 h 646"/>
                <a:gd name="T14" fmla="*/ 380 w 465"/>
                <a:gd name="T15" fmla="*/ 385 h 646"/>
                <a:gd name="T16" fmla="*/ 168 w 465"/>
                <a:gd name="T17" fmla="*/ 259 h 646"/>
                <a:gd name="T18" fmla="*/ 133 w 465"/>
                <a:gd name="T19" fmla="*/ 235 h 646"/>
                <a:gd name="T20" fmla="*/ 111 w 465"/>
                <a:gd name="T21" fmla="*/ 208 h 646"/>
                <a:gd name="T22" fmla="*/ 104 w 465"/>
                <a:gd name="T23" fmla="*/ 166 h 646"/>
                <a:gd name="T24" fmla="*/ 117 w 465"/>
                <a:gd name="T25" fmla="*/ 124 h 646"/>
                <a:gd name="T26" fmla="*/ 155 w 465"/>
                <a:gd name="T27" fmla="*/ 95 h 646"/>
                <a:gd name="T28" fmla="*/ 222 w 465"/>
                <a:gd name="T29" fmla="*/ 52 h 646"/>
                <a:gd name="T30" fmla="*/ 124 w 465"/>
                <a:gd name="T31" fmla="*/ 0 h 646"/>
                <a:gd name="T32" fmla="*/ 55 w 465"/>
                <a:gd name="T33" fmla="*/ 41 h 646"/>
                <a:gd name="T34" fmla="*/ 27 w 465"/>
                <a:gd name="T35" fmla="*/ 70 h 646"/>
                <a:gd name="T36" fmla="*/ 2 w 465"/>
                <a:gd name="T37" fmla="*/ 123 h 646"/>
                <a:gd name="T38" fmla="*/ 0 w 465"/>
                <a:gd name="T39" fmla="*/ 189 h 646"/>
                <a:gd name="T40" fmla="*/ 29 w 465"/>
                <a:gd name="T41" fmla="*/ 257 h 646"/>
                <a:gd name="T42" fmla="*/ 78 w 465"/>
                <a:gd name="T43" fmla="*/ 300 h 646"/>
                <a:gd name="T44" fmla="*/ 311 w 465"/>
                <a:gd name="T45" fmla="*/ 442 h 646"/>
                <a:gd name="T46" fmla="*/ 358 w 465"/>
                <a:gd name="T47" fmla="*/ 474 h 646"/>
                <a:gd name="T48" fmla="*/ 375 w 465"/>
                <a:gd name="T49" fmla="*/ 516 h 646"/>
                <a:gd name="T50" fmla="*/ 375 w 465"/>
                <a:gd name="T51" fmla="*/ 550 h 646"/>
                <a:gd name="T52" fmla="*/ 308 w 465"/>
                <a:gd name="T53" fmla="*/ 608 h 646"/>
                <a:gd name="T54" fmla="*/ 359 w 465"/>
                <a:gd name="T55" fmla="*/ 645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65" h="646">
                  <a:moveTo>
                    <a:pt x="359" y="645"/>
                  </a:moveTo>
                  <a:lnTo>
                    <a:pt x="405" y="616"/>
                  </a:lnTo>
                  <a:lnTo>
                    <a:pt x="447" y="580"/>
                  </a:lnTo>
                  <a:lnTo>
                    <a:pt x="460" y="552"/>
                  </a:lnTo>
                  <a:lnTo>
                    <a:pt x="464" y="515"/>
                  </a:lnTo>
                  <a:lnTo>
                    <a:pt x="451" y="468"/>
                  </a:lnTo>
                  <a:lnTo>
                    <a:pt x="424" y="424"/>
                  </a:lnTo>
                  <a:lnTo>
                    <a:pt x="380" y="385"/>
                  </a:lnTo>
                  <a:lnTo>
                    <a:pt x="168" y="259"/>
                  </a:lnTo>
                  <a:lnTo>
                    <a:pt x="133" y="235"/>
                  </a:lnTo>
                  <a:lnTo>
                    <a:pt x="111" y="208"/>
                  </a:lnTo>
                  <a:lnTo>
                    <a:pt x="104" y="166"/>
                  </a:lnTo>
                  <a:lnTo>
                    <a:pt x="117" y="124"/>
                  </a:lnTo>
                  <a:lnTo>
                    <a:pt x="155" y="95"/>
                  </a:lnTo>
                  <a:lnTo>
                    <a:pt x="222" y="52"/>
                  </a:lnTo>
                  <a:lnTo>
                    <a:pt x="124" y="0"/>
                  </a:lnTo>
                  <a:lnTo>
                    <a:pt x="55" y="41"/>
                  </a:lnTo>
                  <a:lnTo>
                    <a:pt x="27" y="70"/>
                  </a:lnTo>
                  <a:lnTo>
                    <a:pt x="2" y="123"/>
                  </a:lnTo>
                  <a:lnTo>
                    <a:pt x="0" y="189"/>
                  </a:lnTo>
                  <a:lnTo>
                    <a:pt x="29" y="257"/>
                  </a:lnTo>
                  <a:lnTo>
                    <a:pt x="78" y="300"/>
                  </a:lnTo>
                  <a:lnTo>
                    <a:pt x="311" y="442"/>
                  </a:lnTo>
                  <a:lnTo>
                    <a:pt x="358" y="474"/>
                  </a:lnTo>
                  <a:lnTo>
                    <a:pt x="375" y="516"/>
                  </a:lnTo>
                  <a:lnTo>
                    <a:pt x="375" y="550"/>
                  </a:lnTo>
                  <a:lnTo>
                    <a:pt x="308" y="608"/>
                  </a:lnTo>
                  <a:lnTo>
                    <a:pt x="359" y="645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0"/>
            <p:cNvSpPr>
              <a:spLocks/>
            </p:cNvSpPr>
            <p:nvPr/>
          </p:nvSpPr>
          <p:spPr bwMode="auto">
            <a:xfrm>
              <a:off x="2966" y="2396"/>
              <a:ext cx="318" cy="422"/>
            </a:xfrm>
            <a:custGeom>
              <a:avLst/>
              <a:gdLst>
                <a:gd name="T0" fmla="*/ 92 w 318"/>
                <a:gd name="T1" fmla="*/ 421 h 422"/>
                <a:gd name="T2" fmla="*/ 163 w 318"/>
                <a:gd name="T3" fmla="*/ 399 h 422"/>
                <a:gd name="T4" fmla="*/ 218 w 318"/>
                <a:gd name="T5" fmla="*/ 357 h 422"/>
                <a:gd name="T6" fmla="*/ 263 w 318"/>
                <a:gd name="T7" fmla="*/ 316 h 422"/>
                <a:gd name="T8" fmla="*/ 300 w 318"/>
                <a:gd name="T9" fmla="*/ 265 h 422"/>
                <a:gd name="T10" fmla="*/ 317 w 318"/>
                <a:gd name="T11" fmla="*/ 203 h 422"/>
                <a:gd name="T12" fmla="*/ 316 w 318"/>
                <a:gd name="T13" fmla="*/ 139 h 422"/>
                <a:gd name="T14" fmla="*/ 299 w 318"/>
                <a:gd name="T15" fmla="*/ 95 h 422"/>
                <a:gd name="T16" fmla="*/ 276 w 318"/>
                <a:gd name="T17" fmla="*/ 64 h 422"/>
                <a:gd name="T18" fmla="*/ 241 w 318"/>
                <a:gd name="T19" fmla="*/ 36 h 422"/>
                <a:gd name="T20" fmla="*/ 218 w 318"/>
                <a:gd name="T21" fmla="*/ 14 h 422"/>
                <a:gd name="T22" fmla="*/ 180 w 318"/>
                <a:gd name="T23" fmla="*/ 0 h 422"/>
                <a:gd name="T24" fmla="*/ 61 w 318"/>
                <a:gd name="T25" fmla="*/ 52 h 422"/>
                <a:gd name="T26" fmla="*/ 106 w 318"/>
                <a:gd name="T27" fmla="*/ 93 h 422"/>
                <a:gd name="T28" fmla="*/ 137 w 318"/>
                <a:gd name="T29" fmla="*/ 130 h 422"/>
                <a:gd name="T30" fmla="*/ 159 w 318"/>
                <a:gd name="T31" fmla="*/ 159 h 422"/>
                <a:gd name="T32" fmla="*/ 176 w 318"/>
                <a:gd name="T33" fmla="*/ 196 h 422"/>
                <a:gd name="T34" fmla="*/ 176 w 318"/>
                <a:gd name="T35" fmla="*/ 246 h 422"/>
                <a:gd name="T36" fmla="*/ 145 w 318"/>
                <a:gd name="T37" fmla="*/ 279 h 422"/>
                <a:gd name="T38" fmla="*/ 105 w 318"/>
                <a:gd name="T39" fmla="*/ 309 h 422"/>
                <a:gd name="T40" fmla="*/ 50 w 318"/>
                <a:gd name="T41" fmla="*/ 342 h 422"/>
                <a:gd name="T42" fmla="*/ 0 w 318"/>
                <a:gd name="T43" fmla="*/ 369 h 422"/>
                <a:gd name="T44" fmla="*/ 92 w 318"/>
                <a:gd name="T45" fmla="*/ 421 h 4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8" h="422">
                  <a:moveTo>
                    <a:pt x="92" y="421"/>
                  </a:moveTo>
                  <a:lnTo>
                    <a:pt x="163" y="399"/>
                  </a:lnTo>
                  <a:lnTo>
                    <a:pt x="218" y="357"/>
                  </a:lnTo>
                  <a:lnTo>
                    <a:pt x="263" y="316"/>
                  </a:lnTo>
                  <a:lnTo>
                    <a:pt x="300" y="265"/>
                  </a:lnTo>
                  <a:lnTo>
                    <a:pt x="317" y="203"/>
                  </a:lnTo>
                  <a:lnTo>
                    <a:pt x="316" y="139"/>
                  </a:lnTo>
                  <a:lnTo>
                    <a:pt x="299" y="95"/>
                  </a:lnTo>
                  <a:lnTo>
                    <a:pt x="276" y="64"/>
                  </a:lnTo>
                  <a:lnTo>
                    <a:pt x="241" y="36"/>
                  </a:lnTo>
                  <a:lnTo>
                    <a:pt x="218" y="14"/>
                  </a:lnTo>
                  <a:lnTo>
                    <a:pt x="180" y="0"/>
                  </a:lnTo>
                  <a:lnTo>
                    <a:pt x="61" y="52"/>
                  </a:lnTo>
                  <a:lnTo>
                    <a:pt x="106" y="93"/>
                  </a:lnTo>
                  <a:lnTo>
                    <a:pt x="137" y="130"/>
                  </a:lnTo>
                  <a:lnTo>
                    <a:pt x="159" y="159"/>
                  </a:lnTo>
                  <a:lnTo>
                    <a:pt x="176" y="196"/>
                  </a:lnTo>
                  <a:lnTo>
                    <a:pt x="176" y="246"/>
                  </a:lnTo>
                  <a:lnTo>
                    <a:pt x="145" y="279"/>
                  </a:lnTo>
                  <a:lnTo>
                    <a:pt x="105" y="309"/>
                  </a:lnTo>
                  <a:lnTo>
                    <a:pt x="50" y="342"/>
                  </a:lnTo>
                  <a:lnTo>
                    <a:pt x="0" y="369"/>
                  </a:lnTo>
                  <a:lnTo>
                    <a:pt x="92" y="421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1"/>
            <p:cNvSpPr>
              <a:spLocks/>
            </p:cNvSpPr>
            <p:nvPr/>
          </p:nvSpPr>
          <p:spPr bwMode="auto">
            <a:xfrm>
              <a:off x="2308" y="1190"/>
              <a:ext cx="1404" cy="1153"/>
            </a:xfrm>
            <a:custGeom>
              <a:avLst/>
              <a:gdLst>
                <a:gd name="T0" fmla="*/ 466 w 1404"/>
                <a:gd name="T1" fmla="*/ 1084 h 1153"/>
                <a:gd name="T2" fmla="*/ 370 w 1404"/>
                <a:gd name="T3" fmla="*/ 1066 h 1153"/>
                <a:gd name="T4" fmla="*/ 299 w 1404"/>
                <a:gd name="T5" fmla="*/ 1035 h 1153"/>
                <a:gd name="T6" fmla="*/ 257 w 1404"/>
                <a:gd name="T7" fmla="*/ 1002 h 1153"/>
                <a:gd name="T8" fmla="*/ 220 w 1404"/>
                <a:gd name="T9" fmla="*/ 956 h 1153"/>
                <a:gd name="T10" fmla="*/ 209 w 1404"/>
                <a:gd name="T11" fmla="*/ 914 h 1153"/>
                <a:gd name="T12" fmla="*/ 215 w 1404"/>
                <a:gd name="T13" fmla="*/ 873 h 1153"/>
                <a:gd name="T14" fmla="*/ 231 w 1404"/>
                <a:gd name="T15" fmla="*/ 836 h 1153"/>
                <a:gd name="T16" fmla="*/ 273 w 1404"/>
                <a:gd name="T17" fmla="*/ 798 h 1153"/>
                <a:gd name="T18" fmla="*/ 330 w 1404"/>
                <a:gd name="T19" fmla="*/ 774 h 1153"/>
                <a:gd name="T20" fmla="*/ 400 w 1404"/>
                <a:gd name="T21" fmla="*/ 748 h 1153"/>
                <a:gd name="T22" fmla="*/ 1110 w 1404"/>
                <a:gd name="T23" fmla="*/ 499 h 1153"/>
                <a:gd name="T24" fmla="*/ 1207 w 1404"/>
                <a:gd name="T25" fmla="*/ 451 h 1153"/>
                <a:gd name="T26" fmla="*/ 1289 w 1404"/>
                <a:gd name="T27" fmla="*/ 398 h 1153"/>
                <a:gd name="T28" fmla="*/ 1344 w 1404"/>
                <a:gd name="T29" fmla="*/ 356 h 1153"/>
                <a:gd name="T30" fmla="*/ 1381 w 1404"/>
                <a:gd name="T31" fmla="*/ 310 h 1153"/>
                <a:gd name="T32" fmla="*/ 1403 w 1404"/>
                <a:gd name="T33" fmla="*/ 249 h 1153"/>
                <a:gd name="T34" fmla="*/ 1401 w 1404"/>
                <a:gd name="T35" fmla="*/ 185 h 1153"/>
                <a:gd name="T36" fmla="*/ 1386 w 1404"/>
                <a:gd name="T37" fmla="*/ 136 h 1153"/>
                <a:gd name="T38" fmla="*/ 1370 w 1404"/>
                <a:gd name="T39" fmla="*/ 90 h 1153"/>
                <a:gd name="T40" fmla="*/ 1335 w 1404"/>
                <a:gd name="T41" fmla="*/ 55 h 1153"/>
                <a:gd name="T42" fmla="*/ 1280 w 1404"/>
                <a:gd name="T43" fmla="*/ 18 h 1153"/>
                <a:gd name="T44" fmla="*/ 1214 w 1404"/>
                <a:gd name="T45" fmla="*/ 0 h 1153"/>
                <a:gd name="T46" fmla="*/ 1172 w 1404"/>
                <a:gd name="T47" fmla="*/ 4 h 1153"/>
                <a:gd name="T48" fmla="*/ 1111 w 1404"/>
                <a:gd name="T49" fmla="*/ 7 h 1153"/>
                <a:gd name="T50" fmla="*/ 1053 w 1404"/>
                <a:gd name="T51" fmla="*/ 20 h 1153"/>
                <a:gd name="T52" fmla="*/ 989 w 1404"/>
                <a:gd name="T53" fmla="*/ 46 h 1153"/>
                <a:gd name="T54" fmla="*/ 939 w 1404"/>
                <a:gd name="T55" fmla="*/ 79 h 1153"/>
                <a:gd name="T56" fmla="*/ 899 w 1404"/>
                <a:gd name="T57" fmla="*/ 106 h 1153"/>
                <a:gd name="T58" fmla="*/ 878 w 1404"/>
                <a:gd name="T59" fmla="*/ 149 h 1153"/>
                <a:gd name="T60" fmla="*/ 897 w 1404"/>
                <a:gd name="T61" fmla="*/ 187 h 1153"/>
                <a:gd name="T62" fmla="*/ 939 w 1404"/>
                <a:gd name="T63" fmla="*/ 183 h 1153"/>
                <a:gd name="T64" fmla="*/ 987 w 1404"/>
                <a:gd name="T65" fmla="*/ 171 h 1153"/>
                <a:gd name="T66" fmla="*/ 1033 w 1404"/>
                <a:gd name="T67" fmla="*/ 158 h 1153"/>
                <a:gd name="T68" fmla="*/ 1069 w 1404"/>
                <a:gd name="T69" fmla="*/ 150 h 1153"/>
                <a:gd name="T70" fmla="*/ 1111 w 1404"/>
                <a:gd name="T71" fmla="*/ 150 h 1153"/>
                <a:gd name="T72" fmla="*/ 1154 w 1404"/>
                <a:gd name="T73" fmla="*/ 163 h 1153"/>
                <a:gd name="T74" fmla="*/ 1183 w 1404"/>
                <a:gd name="T75" fmla="*/ 204 h 1153"/>
                <a:gd name="T76" fmla="*/ 1179 w 1404"/>
                <a:gd name="T77" fmla="*/ 248 h 1153"/>
                <a:gd name="T78" fmla="*/ 1157 w 1404"/>
                <a:gd name="T79" fmla="*/ 286 h 1153"/>
                <a:gd name="T80" fmla="*/ 1121 w 1404"/>
                <a:gd name="T81" fmla="*/ 323 h 1153"/>
                <a:gd name="T82" fmla="*/ 1047 w 1404"/>
                <a:gd name="T83" fmla="*/ 361 h 1153"/>
                <a:gd name="T84" fmla="*/ 908 w 1404"/>
                <a:gd name="T85" fmla="*/ 415 h 1153"/>
                <a:gd name="T86" fmla="*/ 194 w 1404"/>
                <a:gd name="T87" fmla="*/ 675 h 1153"/>
                <a:gd name="T88" fmla="*/ 123 w 1404"/>
                <a:gd name="T89" fmla="*/ 715 h 1153"/>
                <a:gd name="T90" fmla="*/ 68 w 1404"/>
                <a:gd name="T91" fmla="*/ 763 h 1153"/>
                <a:gd name="T92" fmla="*/ 29 w 1404"/>
                <a:gd name="T93" fmla="*/ 809 h 1153"/>
                <a:gd name="T94" fmla="*/ 6 w 1404"/>
                <a:gd name="T95" fmla="*/ 858 h 1153"/>
                <a:gd name="T96" fmla="*/ 0 w 1404"/>
                <a:gd name="T97" fmla="*/ 912 h 1153"/>
                <a:gd name="T98" fmla="*/ 8 w 1404"/>
                <a:gd name="T99" fmla="*/ 952 h 1153"/>
                <a:gd name="T100" fmla="*/ 22 w 1404"/>
                <a:gd name="T101" fmla="*/ 992 h 1153"/>
                <a:gd name="T102" fmla="*/ 59 w 1404"/>
                <a:gd name="T103" fmla="*/ 1036 h 1153"/>
                <a:gd name="T104" fmla="*/ 127 w 1404"/>
                <a:gd name="T105" fmla="*/ 1095 h 1153"/>
                <a:gd name="T106" fmla="*/ 198 w 1404"/>
                <a:gd name="T107" fmla="*/ 1135 h 1153"/>
                <a:gd name="T108" fmla="*/ 273 w 1404"/>
                <a:gd name="T109" fmla="*/ 1152 h 1153"/>
                <a:gd name="T110" fmla="*/ 466 w 1404"/>
                <a:gd name="T111" fmla="*/ 1084 h 1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404" h="1153">
                  <a:moveTo>
                    <a:pt x="466" y="1084"/>
                  </a:moveTo>
                  <a:lnTo>
                    <a:pt x="370" y="1066"/>
                  </a:lnTo>
                  <a:lnTo>
                    <a:pt x="299" y="1035"/>
                  </a:lnTo>
                  <a:lnTo>
                    <a:pt x="257" y="1002"/>
                  </a:lnTo>
                  <a:lnTo>
                    <a:pt x="220" y="956"/>
                  </a:lnTo>
                  <a:lnTo>
                    <a:pt x="209" y="914"/>
                  </a:lnTo>
                  <a:lnTo>
                    <a:pt x="215" y="873"/>
                  </a:lnTo>
                  <a:lnTo>
                    <a:pt x="231" y="836"/>
                  </a:lnTo>
                  <a:lnTo>
                    <a:pt x="273" y="798"/>
                  </a:lnTo>
                  <a:lnTo>
                    <a:pt x="330" y="774"/>
                  </a:lnTo>
                  <a:lnTo>
                    <a:pt x="400" y="748"/>
                  </a:lnTo>
                  <a:lnTo>
                    <a:pt x="1110" y="499"/>
                  </a:lnTo>
                  <a:lnTo>
                    <a:pt x="1207" y="451"/>
                  </a:lnTo>
                  <a:lnTo>
                    <a:pt x="1289" y="398"/>
                  </a:lnTo>
                  <a:lnTo>
                    <a:pt x="1344" y="356"/>
                  </a:lnTo>
                  <a:lnTo>
                    <a:pt x="1381" y="310"/>
                  </a:lnTo>
                  <a:lnTo>
                    <a:pt x="1403" y="249"/>
                  </a:lnTo>
                  <a:lnTo>
                    <a:pt x="1401" y="185"/>
                  </a:lnTo>
                  <a:lnTo>
                    <a:pt x="1386" y="136"/>
                  </a:lnTo>
                  <a:lnTo>
                    <a:pt x="1370" y="90"/>
                  </a:lnTo>
                  <a:lnTo>
                    <a:pt x="1335" y="55"/>
                  </a:lnTo>
                  <a:lnTo>
                    <a:pt x="1280" y="18"/>
                  </a:lnTo>
                  <a:lnTo>
                    <a:pt x="1214" y="0"/>
                  </a:lnTo>
                  <a:lnTo>
                    <a:pt x="1172" y="4"/>
                  </a:lnTo>
                  <a:lnTo>
                    <a:pt x="1111" y="7"/>
                  </a:lnTo>
                  <a:lnTo>
                    <a:pt x="1053" y="20"/>
                  </a:lnTo>
                  <a:lnTo>
                    <a:pt x="989" y="46"/>
                  </a:lnTo>
                  <a:lnTo>
                    <a:pt x="939" y="79"/>
                  </a:lnTo>
                  <a:lnTo>
                    <a:pt x="899" y="106"/>
                  </a:lnTo>
                  <a:lnTo>
                    <a:pt x="878" y="149"/>
                  </a:lnTo>
                  <a:lnTo>
                    <a:pt x="897" y="187"/>
                  </a:lnTo>
                  <a:lnTo>
                    <a:pt x="939" y="183"/>
                  </a:lnTo>
                  <a:lnTo>
                    <a:pt x="987" y="171"/>
                  </a:lnTo>
                  <a:lnTo>
                    <a:pt x="1033" y="158"/>
                  </a:lnTo>
                  <a:lnTo>
                    <a:pt x="1069" y="150"/>
                  </a:lnTo>
                  <a:lnTo>
                    <a:pt x="1111" y="150"/>
                  </a:lnTo>
                  <a:lnTo>
                    <a:pt x="1154" y="163"/>
                  </a:lnTo>
                  <a:lnTo>
                    <a:pt x="1183" y="204"/>
                  </a:lnTo>
                  <a:lnTo>
                    <a:pt x="1179" y="248"/>
                  </a:lnTo>
                  <a:lnTo>
                    <a:pt x="1157" y="286"/>
                  </a:lnTo>
                  <a:lnTo>
                    <a:pt x="1121" y="323"/>
                  </a:lnTo>
                  <a:lnTo>
                    <a:pt x="1047" y="361"/>
                  </a:lnTo>
                  <a:lnTo>
                    <a:pt x="908" y="415"/>
                  </a:lnTo>
                  <a:lnTo>
                    <a:pt x="194" y="675"/>
                  </a:lnTo>
                  <a:lnTo>
                    <a:pt x="123" y="715"/>
                  </a:lnTo>
                  <a:lnTo>
                    <a:pt x="68" y="763"/>
                  </a:lnTo>
                  <a:lnTo>
                    <a:pt x="29" y="809"/>
                  </a:lnTo>
                  <a:lnTo>
                    <a:pt x="6" y="858"/>
                  </a:lnTo>
                  <a:lnTo>
                    <a:pt x="0" y="912"/>
                  </a:lnTo>
                  <a:lnTo>
                    <a:pt x="8" y="952"/>
                  </a:lnTo>
                  <a:lnTo>
                    <a:pt x="22" y="992"/>
                  </a:lnTo>
                  <a:lnTo>
                    <a:pt x="59" y="1036"/>
                  </a:lnTo>
                  <a:lnTo>
                    <a:pt x="127" y="1095"/>
                  </a:lnTo>
                  <a:lnTo>
                    <a:pt x="198" y="1135"/>
                  </a:lnTo>
                  <a:lnTo>
                    <a:pt x="273" y="1152"/>
                  </a:lnTo>
                  <a:lnTo>
                    <a:pt x="466" y="108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12"/>
            <p:cNvSpPr>
              <a:spLocks/>
            </p:cNvSpPr>
            <p:nvPr/>
          </p:nvSpPr>
          <p:spPr bwMode="auto">
            <a:xfrm>
              <a:off x="2711" y="3280"/>
              <a:ext cx="368" cy="422"/>
            </a:xfrm>
            <a:custGeom>
              <a:avLst/>
              <a:gdLst>
                <a:gd name="T0" fmla="*/ 367 w 368"/>
                <a:gd name="T1" fmla="*/ 421 h 422"/>
                <a:gd name="T2" fmla="*/ 171 w 368"/>
                <a:gd name="T3" fmla="*/ 340 h 422"/>
                <a:gd name="T4" fmla="*/ 117 w 368"/>
                <a:gd name="T5" fmla="*/ 304 h 422"/>
                <a:gd name="T6" fmla="*/ 73 w 368"/>
                <a:gd name="T7" fmla="*/ 265 h 422"/>
                <a:gd name="T8" fmla="*/ 31 w 368"/>
                <a:gd name="T9" fmla="*/ 219 h 422"/>
                <a:gd name="T10" fmla="*/ 9 w 368"/>
                <a:gd name="T11" fmla="*/ 179 h 422"/>
                <a:gd name="T12" fmla="*/ 0 w 368"/>
                <a:gd name="T13" fmla="*/ 137 h 422"/>
                <a:gd name="T14" fmla="*/ 2 w 368"/>
                <a:gd name="T15" fmla="*/ 95 h 422"/>
                <a:gd name="T16" fmla="*/ 19 w 368"/>
                <a:gd name="T17" fmla="*/ 51 h 422"/>
                <a:gd name="T18" fmla="*/ 44 w 368"/>
                <a:gd name="T19" fmla="*/ 0 h 422"/>
                <a:gd name="T20" fmla="*/ 120 w 368"/>
                <a:gd name="T21" fmla="*/ 52 h 422"/>
                <a:gd name="T22" fmla="*/ 95 w 368"/>
                <a:gd name="T23" fmla="*/ 98 h 422"/>
                <a:gd name="T24" fmla="*/ 95 w 368"/>
                <a:gd name="T25" fmla="*/ 143 h 422"/>
                <a:gd name="T26" fmla="*/ 122 w 368"/>
                <a:gd name="T27" fmla="*/ 191 h 422"/>
                <a:gd name="T28" fmla="*/ 162 w 368"/>
                <a:gd name="T29" fmla="*/ 235 h 422"/>
                <a:gd name="T30" fmla="*/ 223 w 368"/>
                <a:gd name="T31" fmla="*/ 284 h 422"/>
                <a:gd name="T32" fmla="*/ 290 w 368"/>
                <a:gd name="T33" fmla="*/ 317 h 422"/>
                <a:gd name="T34" fmla="*/ 332 w 368"/>
                <a:gd name="T35" fmla="*/ 351 h 422"/>
                <a:gd name="T36" fmla="*/ 351 w 368"/>
                <a:gd name="T37" fmla="*/ 378 h 422"/>
                <a:gd name="T38" fmla="*/ 367 w 368"/>
                <a:gd name="T39" fmla="*/ 421 h 4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68" h="422">
                  <a:moveTo>
                    <a:pt x="367" y="421"/>
                  </a:moveTo>
                  <a:lnTo>
                    <a:pt x="171" y="340"/>
                  </a:lnTo>
                  <a:lnTo>
                    <a:pt x="117" y="304"/>
                  </a:lnTo>
                  <a:lnTo>
                    <a:pt x="73" y="265"/>
                  </a:lnTo>
                  <a:lnTo>
                    <a:pt x="31" y="219"/>
                  </a:lnTo>
                  <a:lnTo>
                    <a:pt x="9" y="179"/>
                  </a:lnTo>
                  <a:lnTo>
                    <a:pt x="0" y="137"/>
                  </a:lnTo>
                  <a:lnTo>
                    <a:pt x="2" y="95"/>
                  </a:lnTo>
                  <a:lnTo>
                    <a:pt x="19" y="51"/>
                  </a:lnTo>
                  <a:lnTo>
                    <a:pt x="44" y="0"/>
                  </a:lnTo>
                  <a:lnTo>
                    <a:pt x="120" y="52"/>
                  </a:lnTo>
                  <a:lnTo>
                    <a:pt x="95" y="98"/>
                  </a:lnTo>
                  <a:lnTo>
                    <a:pt x="95" y="143"/>
                  </a:lnTo>
                  <a:lnTo>
                    <a:pt x="122" y="191"/>
                  </a:lnTo>
                  <a:lnTo>
                    <a:pt x="162" y="235"/>
                  </a:lnTo>
                  <a:lnTo>
                    <a:pt x="223" y="284"/>
                  </a:lnTo>
                  <a:lnTo>
                    <a:pt x="290" y="317"/>
                  </a:lnTo>
                  <a:lnTo>
                    <a:pt x="332" y="351"/>
                  </a:lnTo>
                  <a:lnTo>
                    <a:pt x="351" y="378"/>
                  </a:lnTo>
                  <a:lnTo>
                    <a:pt x="367" y="421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13"/>
            <p:cNvSpPr>
              <a:spLocks/>
            </p:cNvSpPr>
            <p:nvPr/>
          </p:nvSpPr>
          <p:spPr bwMode="auto">
            <a:xfrm>
              <a:off x="2432" y="1792"/>
              <a:ext cx="989" cy="1439"/>
            </a:xfrm>
            <a:custGeom>
              <a:avLst/>
              <a:gdLst>
                <a:gd name="T0" fmla="*/ 525 w 989"/>
                <a:gd name="T1" fmla="*/ 1438 h 1439"/>
                <a:gd name="T2" fmla="*/ 582 w 989"/>
                <a:gd name="T3" fmla="*/ 1409 h 1439"/>
                <a:gd name="T4" fmla="*/ 647 w 989"/>
                <a:gd name="T5" fmla="*/ 1355 h 1439"/>
                <a:gd name="T6" fmla="*/ 670 w 989"/>
                <a:gd name="T7" fmla="*/ 1304 h 1439"/>
                <a:gd name="T8" fmla="*/ 686 w 989"/>
                <a:gd name="T9" fmla="*/ 1255 h 1439"/>
                <a:gd name="T10" fmla="*/ 677 w 989"/>
                <a:gd name="T11" fmla="*/ 1198 h 1439"/>
                <a:gd name="T12" fmla="*/ 637 w 989"/>
                <a:gd name="T13" fmla="*/ 1125 h 1439"/>
                <a:gd name="T14" fmla="*/ 609 w 989"/>
                <a:gd name="T15" fmla="*/ 1092 h 1439"/>
                <a:gd name="T16" fmla="*/ 569 w 989"/>
                <a:gd name="T17" fmla="*/ 1063 h 1439"/>
                <a:gd name="T18" fmla="*/ 259 w 989"/>
                <a:gd name="T19" fmla="*/ 905 h 1439"/>
                <a:gd name="T20" fmla="*/ 201 w 989"/>
                <a:gd name="T21" fmla="*/ 863 h 1439"/>
                <a:gd name="T22" fmla="*/ 177 w 989"/>
                <a:gd name="T23" fmla="*/ 843 h 1439"/>
                <a:gd name="T24" fmla="*/ 160 w 989"/>
                <a:gd name="T25" fmla="*/ 800 h 1439"/>
                <a:gd name="T26" fmla="*/ 171 w 989"/>
                <a:gd name="T27" fmla="*/ 766 h 1439"/>
                <a:gd name="T28" fmla="*/ 215 w 989"/>
                <a:gd name="T29" fmla="*/ 738 h 1439"/>
                <a:gd name="T30" fmla="*/ 294 w 989"/>
                <a:gd name="T31" fmla="*/ 709 h 1439"/>
                <a:gd name="T32" fmla="*/ 780 w 989"/>
                <a:gd name="T33" fmla="*/ 521 h 1439"/>
                <a:gd name="T34" fmla="*/ 856 w 989"/>
                <a:gd name="T35" fmla="*/ 471 h 1439"/>
                <a:gd name="T36" fmla="*/ 918 w 989"/>
                <a:gd name="T37" fmla="*/ 417 h 1439"/>
                <a:gd name="T38" fmla="*/ 953 w 989"/>
                <a:gd name="T39" fmla="*/ 379 h 1439"/>
                <a:gd name="T40" fmla="*/ 984 w 989"/>
                <a:gd name="T41" fmla="*/ 334 h 1439"/>
                <a:gd name="T42" fmla="*/ 988 w 989"/>
                <a:gd name="T43" fmla="*/ 274 h 1439"/>
                <a:gd name="T44" fmla="*/ 972 w 989"/>
                <a:gd name="T45" fmla="*/ 214 h 1439"/>
                <a:gd name="T46" fmla="*/ 953 w 989"/>
                <a:gd name="T47" fmla="*/ 167 h 1439"/>
                <a:gd name="T48" fmla="*/ 920 w 989"/>
                <a:gd name="T49" fmla="*/ 126 h 1439"/>
                <a:gd name="T50" fmla="*/ 875 w 989"/>
                <a:gd name="T51" fmla="*/ 85 h 1439"/>
                <a:gd name="T52" fmla="*/ 828 w 989"/>
                <a:gd name="T53" fmla="*/ 50 h 1439"/>
                <a:gd name="T54" fmla="*/ 803 w 989"/>
                <a:gd name="T55" fmla="*/ 29 h 1439"/>
                <a:gd name="T56" fmla="*/ 756 w 989"/>
                <a:gd name="T57" fmla="*/ 0 h 1439"/>
                <a:gd name="T58" fmla="*/ 588 w 989"/>
                <a:gd name="T59" fmla="*/ 61 h 1439"/>
                <a:gd name="T60" fmla="*/ 649 w 989"/>
                <a:gd name="T61" fmla="*/ 104 h 1439"/>
                <a:gd name="T62" fmla="*/ 694 w 989"/>
                <a:gd name="T63" fmla="*/ 145 h 1439"/>
                <a:gd name="T64" fmla="*/ 739 w 989"/>
                <a:gd name="T65" fmla="*/ 182 h 1439"/>
                <a:gd name="T66" fmla="*/ 780 w 989"/>
                <a:gd name="T67" fmla="*/ 223 h 1439"/>
                <a:gd name="T68" fmla="*/ 803 w 989"/>
                <a:gd name="T69" fmla="*/ 272 h 1439"/>
                <a:gd name="T70" fmla="*/ 787 w 989"/>
                <a:gd name="T71" fmla="*/ 323 h 1439"/>
                <a:gd name="T72" fmla="*/ 729 w 989"/>
                <a:gd name="T73" fmla="*/ 369 h 1439"/>
                <a:gd name="T74" fmla="*/ 639 w 989"/>
                <a:gd name="T75" fmla="*/ 413 h 1439"/>
                <a:gd name="T76" fmla="*/ 212 w 989"/>
                <a:gd name="T77" fmla="*/ 589 h 1439"/>
                <a:gd name="T78" fmla="*/ 160 w 989"/>
                <a:gd name="T79" fmla="*/ 608 h 1439"/>
                <a:gd name="T80" fmla="*/ 88 w 989"/>
                <a:gd name="T81" fmla="*/ 653 h 1439"/>
                <a:gd name="T82" fmla="*/ 43 w 989"/>
                <a:gd name="T83" fmla="*/ 698 h 1439"/>
                <a:gd name="T84" fmla="*/ 9 w 989"/>
                <a:gd name="T85" fmla="*/ 755 h 1439"/>
                <a:gd name="T86" fmla="*/ 0 w 989"/>
                <a:gd name="T87" fmla="*/ 820 h 1439"/>
                <a:gd name="T88" fmla="*/ 10 w 989"/>
                <a:gd name="T89" fmla="*/ 872 h 1439"/>
                <a:gd name="T90" fmla="*/ 40 w 989"/>
                <a:gd name="T91" fmla="*/ 914 h 1439"/>
                <a:gd name="T92" fmla="*/ 84 w 989"/>
                <a:gd name="T93" fmla="*/ 949 h 1439"/>
                <a:gd name="T94" fmla="*/ 159 w 989"/>
                <a:gd name="T95" fmla="*/ 999 h 1439"/>
                <a:gd name="T96" fmla="*/ 487 w 989"/>
                <a:gd name="T97" fmla="*/ 1164 h 1439"/>
                <a:gd name="T98" fmla="*/ 530 w 989"/>
                <a:gd name="T99" fmla="*/ 1197 h 1439"/>
                <a:gd name="T100" fmla="*/ 569 w 989"/>
                <a:gd name="T101" fmla="*/ 1236 h 1439"/>
                <a:gd name="T102" fmla="*/ 557 w 989"/>
                <a:gd name="T103" fmla="*/ 1292 h 1439"/>
                <a:gd name="T104" fmla="*/ 502 w 989"/>
                <a:gd name="T105" fmla="*/ 1354 h 1439"/>
                <a:gd name="T106" fmla="*/ 434 w 989"/>
                <a:gd name="T107" fmla="*/ 1394 h 1439"/>
                <a:gd name="T108" fmla="*/ 525 w 989"/>
                <a:gd name="T109" fmla="*/ 1438 h 1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989" h="1439">
                  <a:moveTo>
                    <a:pt x="525" y="1438"/>
                  </a:moveTo>
                  <a:lnTo>
                    <a:pt x="582" y="1409"/>
                  </a:lnTo>
                  <a:lnTo>
                    <a:pt x="647" y="1355"/>
                  </a:lnTo>
                  <a:lnTo>
                    <a:pt x="670" y="1304"/>
                  </a:lnTo>
                  <a:lnTo>
                    <a:pt x="686" y="1255"/>
                  </a:lnTo>
                  <a:lnTo>
                    <a:pt x="677" y="1198"/>
                  </a:lnTo>
                  <a:lnTo>
                    <a:pt x="637" y="1125"/>
                  </a:lnTo>
                  <a:lnTo>
                    <a:pt x="609" y="1092"/>
                  </a:lnTo>
                  <a:lnTo>
                    <a:pt x="569" y="1063"/>
                  </a:lnTo>
                  <a:lnTo>
                    <a:pt x="259" y="905"/>
                  </a:lnTo>
                  <a:lnTo>
                    <a:pt x="201" y="863"/>
                  </a:lnTo>
                  <a:lnTo>
                    <a:pt x="177" y="843"/>
                  </a:lnTo>
                  <a:lnTo>
                    <a:pt x="160" y="800"/>
                  </a:lnTo>
                  <a:lnTo>
                    <a:pt x="171" y="766"/>
                  </a:lnTo>
                  <a:lnTo>
                    <a:pt x="215" y="738"/>
                  </a:lnTo>
                  <a:lnTo>
                    <a:pt x="294" y="709"/>
                  </a:lnTo>
                  <a:lnTo>
                    <a:pt x="780" y="521"/>
                  </a:lnTo>
                  <a:lnTo>
                    <a:pt x="856" y="471"/>
                  </a:lnTo>
                  <a:lnTo>
                    <a:pt x="918" y="417"/>
                  </a:lnTo>
                  <a:lnTo>
                    <a:pt x="953" y="379"/>
                  </a:lnTo>
                  <a:lnTo>
                    <a:pt x="984" y="334"/>
                  </a:lnTo>
                  <a:lnTo>
                    <a:pt x="988" y="274"/>
                  </a:lnTo>
                  <a:lnTo>
                    <a:pt x="972" y="214"/>
                  </a:lnTo>
                  <a:lnTo>
                    <a:pt x="953" y="167"/>
                  </a:lnTo>
                  <a:lnTo>
                    <a:pt x="920" y="126"/>
                  </a:lnTo>
                  <a:lnTo>
                    <a:pt x="875" y="85"/>
                  </a:lnTo>
                  <a:lnTo>
                    <a:pt x="828" y="50"/>
                  </a:lnTo>
                  <a:lnTo>
                    <a:pt x="803" y="29"/>
                  </a:lnTo>
                  <a:lnTo>
                    <a:pt x="756" y="0"/>
                  </a:lnTo>
                  <a:lnTo>
                    <a:pt x="588" y="61"/>
                  </a:lnTo>
                  <a:lnTo>
                    <a:pt x="649" y="104"/>
                  </a:lnTo>
                  <a:lnTo>
                    <a:pt x="694" y="145"/>
                  </a:lnTo>
                  <a:lnTo>
                    <a:pt x="739" y="182"/>
                  </a:lnTo>
                  <a:lnTo>
                    <a:pt x="780" y="223"/>
                  </a:lnTo>
                  <a:lnTo>
                    <a:pt x="803" y="272"/>
                  </a:lnTo>
                  <a:lnTo>
                    <a:pt x="787" y="323"/>
                  </a:lnTo>
                  <a:lnTo>
                    <a:pt x="729" y="369"/>
                  </a:lnTo>
                  <a:lnTo>
                    <a:pt x="639" y="413"/>
                  </a:lnTo>
                  <a:lnTo>
                    <a:pt x="212" y="589"/>
                  </a:lnTo>
                  <a:lnTo>
                    <a:pt x="160" y="608"/>
                  </a:lnTo>
                  <a:lnTo>
                    <a:pt x="88" y="653"/>
                  </a:lnTo>
                  <a:lnTo>
                    <a:pt x="43" y="698"/>
                  </a:lnTo>
                  <a:lnTo>
                    <a:pt x="9" y="755"/>
                  </a:lnTo>
                  <a:lnTo>
                    <a:pt x="0" y="820"/>
                  </a:lnTo>
                  <a:lnTo>
                    <a:pt x="10" y="872"/>
                  </a:lnTo>
                  <a:lnTo>
                    <a:pt x="40" y="914"/>
                  </a:lnTo>
                  <a:lnTo>
                    <a:pt x="84" y="949"/>
                  </a:lnTo>
                  <a:lnTo>
                    <a:pt x="159" y="999"/>
                  </a:lnTo>
                  <a:lnTo>
                    <a:pt x="487" y="1164"/>
                  </a:lnTo>
                  <a:lnTo>
                    <a:pt x="530" y="1197"/>
                  </a:lnTo>
                  <a:lnTo>
                    <a:pt x="569" y="1236"/>
                  </a:lnTo>
                  <a:lnTo>
                    <a:pt x="557" y="1292"/>
                  </a:lnTo>
                  <a:lnTo>
                    <a:pt x="502" y="1354"/>
                  </a:lnTo>
                  <a:lnTo>
                    <a:pt x="434" y="1394"/>
                  </a:lnTo>
                  <a:lnTo>
                    <a:pt x="525" y="143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14"/>
            <p:cNvSpPr>
              <a:spLocks/>
            </p:cNvSpPr>
            <p:nvPr/>
          </p:nvSpPr>
          <p:spPr bwMode="auto">
            <a:xfrm>
              <a:off x="2100" y="1162"/>
              <a:ext cx="669" cy="582"/>
            </a:xfrm>
            <a:custGeom>
              <a:avLst/>
              <a:gdLst>
                <a:gd name="T0" fmla="*/ 668 w 669"/>
                <a:gd name="T1" fmla="*/ 553 h 582"/>
                <a:gd name="T2" fmla="*/ 668 w 669"/>
                <a:gd name="T3" fmla="*/ 450 h 582"/>
                <a:gd name="T4" fmla="*/ 562 w 669"/>
                <a:gd name="T5" fmla="*/ 435 h 582"/>
                <a:gd name="T6" fmla="*/ 448 w 669"/>
                <a:gd name="T7" fmla="*/ 420 h 582"/>
                <a:gd name="T8" fmla="*/ 367 w 669"/>
                <a:gd name="T9" fmla="*/ 400 h 582"/>
                <a:gd name="T10" fmla="*/ 314 w 669"/>
                <a:gd name="T11" fmla="*/ 378 h 582"/>
                <a:gd name="T12" fmla="*/ 257 w 669"/>
                <a:gd name="T13" fmla="*/ 349 h 582"/>
                <a:gd name="T14" fmla="*/ 220 w 669"/>
                <a:gd name="T15" fmla="*/ 314 h 582"/>
                <a:gd name="T16" fmla="*/ 193 w 669"/>
                <a:gd name="T17" fmla="*/ 274 h 582"/>
                <a:gd name="T18" fmla="*/ 180 w 669"/>
                <a:gd name="T19" fmla="*/ 231 h 582"/>
                <a:gd name="T20" fmla="*/ 180 w 669"/>
                <a:gd name="T21" fmla="*/ 189 h 582"/>
                <a:gd name="T22" fmla="*/ 193 w 669"/>
                <a:gd name="T23" fmla="*/ 165 h 582"/>
                <a:gd name="T24" fmla="*/ 209 w 669"/>
                <a:gd name="T25" fmla="*/ 143 h 582"/>
                <a:gd name="T26" fmla="*/ 255 w 669"/>
                <a:gd name="T27" fmla="*/ 127 h 582"/>
                <a:gd name="T28" fmla="*/ 297 w 669"/>
                <a:gd name="T29" fmla="*/ 127 h 582"/>
                <a:gd name="T30" fmla="*/ 345 w 669"/>
                <a:gd name="T31" fmla="*/ 141 h 582"/>
                <a:gd name="T32" fmla="*/ 396 w 669"/>
                <a:gd name="T33" fmla="*/ 156 h 582"/>
                <a:gd name="T34" fmla="*/ 448 w 669"/>
                <a:gd name="T35" fmla="*/ 163 h 582"/>
                <a:gd name="T36" fmla="*/ 477 w 669"/>
                <a:gd name="T37" fmla="*/ 125 h 582"/>
                <a:gd name="T38" fmla="*/ 464 w 669"/>
                <a:gd name="T39" fmla="*/ 86 h 582"/>
                <a:gd name="T40" fmla="*/ 415 w 669"/>
                <a:gd name="T41" fmla="*/ 42 h 582"/>
                <a:gd name="T42" fmla="*/ 363 w 669"/>
                <a:gd name="T43" fmla="*/ 18 h 582"/>
                <a:gd name="T44" fmla="*/ 319 w 669"/>
                <a:gd name="T45" fmla="*/ 7 h 582"/>
                <a:gd name="T46" fmla="*/ 273 w 669"/>
                <a:gd name="T47" fmla="*/ 2 h 582"/>
                <a:gd name="T48" fmla="*/ 222 w 669"/>
                <a:gd name="T49" fmla="*/ 0 h 582"/>
                <a:gd name="T50" fmla="*/ 176 w 669"/>
                <a:gd name="T51" fmla="*/ 4 h 582"/>
                <a:gd name="T52" fmla="*/ 136 w 669"/>
                <a:gd name="T53" fmla="*/ 15 h 582"/>
                <a:gd name="T54" fmla="*/ 86 w 669"/>
                <a:gd name="T55" fmla="*/ 33 h 582"/>
                <a:gd name="T56" fmla="*/ 50 w 669"/>
                <a:gd name="T57" fmla="*/ 66 h 582"/>
                <a:gd name="T58" fmla="*/ 22 w 669"/>
                <a:gd name="T59" fmla="*/ 99 h 582"/>
                <a:gd name="T60" fmla="*/ 6 w 669"/>
                <a:gd name="T61" fmla="*/ 145 h 582"/>
                <a:gd name="T62" fmla="*/ 0 w 669"/>
                <a:gd name="T63" fmla="*/ 189 h 582"/>
                <a:gd name="T64" fmla="*/ 9 w 669"/>
                <a:gd name="T65" fmla="*/ 237 h 582"/>
                <a:gd name="T66" fmla="*/ 22 w 669"/>
                <a:gd name="T67" fmla="*/ 285 h 582"/>
                <a:gd name="T68" fmla="*/ 50 w 669"/>
                <a:gd name="T69" fmla="*/ 330 h 582"/>
                <a:gd name="T70" fmla="*/ 81 w 669"/>
                <a:gd name="T71" fmla="*/ 375 h 582"/>
                <a:gd name="T72" fmla="*/ 125 w 669"/>
                <a:gd name="T73" fmla="*/ 419 h 582"/>
                <a:gd name="T74" fmla="*/ 169 w 669"/>
                <a:gd name="T75" fmla="*/ 457 h 582"/>
                <a:gd name="T76" fmla="*/ 217 w 669"/>
                <a:gd name="T77" fmla="*/ 488 h 582"/>
                <a:gd name="T78" fmla="*/ 266 w 669"/>
                <a:gd name="T79" fmla="*/ 514 h 582"/>
                <a:gd name="T80" fmla="*/ 310 w 669"/>
                <a:gd name="T81" fmla="*/ 534 h 582"/>
                <a:gd name="T82" fmla="*/ 369 w 669"/>
                <a:gd name="T83" fmla="*/ 549 h 582"/>
                <a:gd name="T84" fmla="*/ 437 w 669"/>
                <a:gd name="T85" fmla="*/ 568 h 582"/>
                <a:gd name="T86" fmla="*/ 516 w 669"/>
                <a:gd name="T87" fmla="*/ 581 h 582"/>
                <a:gd name="T88" fmla="*/ 595 w 669"/>
                <a:gd name="T89" fmla="*/ 577 h 582"/>
                <a:gd name="T90" fmla="*/ 668 w 669"/>
                <a:gd name="T91" fmla="*/ 553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69" h="582">
                  <a:moveTo>
                    <a:pt x="668" y="553"/>
                  </a:moveTo>
                  <a:lnTo>
                    <a:pt x="668" y="450"/>
                  </a:lnTo>
                  <a:lnTo>
                    <a:pt x="562" y="435"/>
                  </a:lnTo>
                  <a:lnTo>
                    <a:pt x="448" y="420"/>
                  </a:lnTo>
                  <a:lnTo>
                    <a:pt x="367" y="400"/>
                  </a:lnTo>
                  <a:lnTo>
                    <a:pt x="314" y="378"/>
                  </a:lnTo>
                  <a:lnTo>
                    <a:pt x="257" y="349"/>
                  </a:lnTo>
                  <a:lnTo>
                    <a:pt x="220" y="314"/>
                  </a:lnTo>
                  <a:lnTo>
                    <a:pt x="193" y="274"/>
                  </a:lnTo>
                  <a:lnTo>
                    <a:pt x="180" y="231"/>
                  </a:lnTo>
                  <a:lnTo>
                    <a:pt x="180" y="189"/>
                  </a:lnTo>
                  <a:lnTo>
                    <a:pt x="193" y="165"/>
                  </a:lnTo>
                  <a:lnTo>
                    <a:pt x="209" y="143"/>
                  </a:lnTo>
                  <a:lnTo>
                    <a:pt x="255" y="127"/>
                  </a:lnTo>
                  <a:lnTo>
                    <a:pt x="297" y="127"/>
                  </a:lnTo>
                  <a:lnTo>
                    <a:pt x="345" y="141"/>
                  </a:lnTo>
                  <a:lnTo>
                    <a:pt x="396" y="156"/>
                  </a:lnTo>
                  <a:lnTo>
                    <a:pt x="448" y="163"/>
                  </a:lnTo>
                  <a:lnTo>
                    <a:pt x="477" y="125"/>
                  </a:lnTo>
                  <a:lnTo>
                    <a:pt x="464" y="86"/>
                  </a:lnTo>
                  <a:lnTo>
                    <a:pt x="415" y="42"/>
                  </a:lnTo>
                  <a:lnTo>
                    <a:pt x="363" y="18"/>
                  </a:lnTo>
                  <a:lnTo>
                    <a:pt x="319" y="7"/>
                  </a:lnTo>
                  <a:lnTo>
                    <a:pt x="273" y="2"/>
                  </a:lnTo>
                  <a:lnTo>
                    <a:pt x="222" y="0"/>
                  </a:lnTo>
                  <a:lnTo>
                    <a:pt x="176" y="4"/>
                  </a:lnTo>
                  <a:lnTo>
                    <a:pt x="136" y="15"/>
                  </a:lnTo>
                  <a:lnTo>
                    <a:pt x="86" y="33"/>
                  </a:lnTo>
                  <a:lnTo>
                    <a:pt x="50" y="66"/>
                  </a:lnTo>
                  <a:lnTo>
                    <a:pt x="22" y="99"/>
                  </a:lnTo>
                  <a:lnTo>
                    <a:pt x="6" y="145"/>
                  </a:lnTo>
                  <a:lnTo>
                    <a:pt x="0" y="189"/>
                  </a:lnTo>
                  <a:lnTo>
                    <a:pt x="9" y="237"/>
                  </a:lnTo>
                  <a:lnTo>
                    <a:pt x="22" y="285"/>
                  </a:lnTo>
                  <a:lnTo>
                    <a:pt x="50" y="330"/>
                  </a:lnTo>
                  <a:lnTo>
                    <a:pt x="81" y="375"/>
                  </a:lnTo>
                  <a:lnTo>
                    <a:pt x="125" y="419"/>
                  </a:lnTo>
                  <a:lnTo>
                    <a:pt x="169" y="457"/>
                  </a:lnTo>
                  <a:lnTo>
                    <a:pt x="217" y="488"/>
                  </a:lnTo>
                  <a:lnTo>
                    <a:pt x="266" y="514"/>
                  </a:lnTo>
                  <a:lnTo>
                    <a:pt x="310" y="534"/>
                  </a:lnTo>
                  <a:lnTo>
                    <a:pt x="369" y="549"/>
                  </a:lnTo>
                  <a:lnTo>
                    <a:pt x="437" y="568"/>
                  </a:lnTo>
                  <a:lnTo>
                    <a:pt x="516" y="581"/>
                  </a:lnTo>
                  <a:lnTo>
                    <a:pt x="595" y="577"/>
                  </a:lnTo>
                  <a:lnTo>
                    <a:pt x="668" y="553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15"/>
            <p:cNvSpPr>
              <a:spLocks/>
            </p:cNvSpPr>
            <p:nvPr/>
          </p:nvSpPr>
          <p:spPr bwMode="auto">
            <a:xfrm>
              <a:off x="1365" y="583"/>
              <a:ext cx="1413" cy="549"/>
            </a:xfrm>
            <a:custGeom>
              <a:avLst/>
              <a:gdLst>
                <a:gd name="T0" fmla="*/ 1412 w 1413"/>
                <a:gd name="T1" fmla="*/ 548 h 549"/>
                <a:gd name="T2" fmla="*/ 1316 w 1413"/>
                <a:gd name="T3" fmla="*/ 537 h 549"/>
                <a:gd name="T4" fmla="*/ 1237 w 1413"/>
                <a:gd name="T5" fmla="*/ 524 h 549"/>
                <a:gd name="T6" fmla="*/ 1179 w 1413"/>
                <a:gd name="T7" fmla="*/ 511 h 549"/>
                <a:gd name="T8" fmla="*/ 1118 w 1413"/>
                <a:gd name="T9" fmla="*/ 499 h 549"/>
                <a:gd name="T10" fmla="*/ 1060 w 1413"/>
                <a:gd name="T11" fmla="*/ 493 h 549"/>
                <a:gd name="T12" fmla="*/ 1000 w 1413"/>
                <a:gd name="T13" fmla="*/ 495 h 549"/>
                <a:gd name="T14" fmla="*/ 939 w 1413"/>
                <a:gd name="T15" fmla="*/ 499 h 549"/>
                <a:gd name="T16" fmla="*/ 894 w 1413"/>
                <a:gd name="T17" fmla="*/ 482 h 549"/>
                <a:gd name="T18" fmla="*/ 962 w 1413"/>
                <a:gd name="T19" fmla="*/ 440 h 549"/>
                <a:gd name="T20" fmla="*/ 1005 w 1413"/>
                <a:gd name="T21" fmla="*/ 411 h 549"/>
                <a:gd name="T22" fmla="*/ 1043 w 1413"/>
                <a:gd name="T23" fmla="*/ 381 h 549"/>
                <a:gd name="T24" fmla="*/ 1069 w 1413"/>
                <a:gd name="T25" fmla="*/ 348 h 549"/>
                <a:gd name="T26" fmla="*/ 962 w 1413"/>
                <a:gd name="T27" fmla="*/ 383 h 549"/>
                <a:gd name="T28" fmla="*/ 855 w 1413"/>
                <a:gd name="T29" fmla="*/ 418 h 549"/>
                <a:gd name="T30" fmla="*/ 783 w 1413"/>
                <a:gd name="T31" fmla="*/ 436 h 549"/>
                <a:gd name="T32" fmla="*/ 670 w 1413"/>
                <a:gd name="T33" fmla="*/ 449 h 549"/>
                <a:gd name="T34" fmla="*/ 597 w 1413"/>
                <a:gd name="T35" fmla="*/ 449 h 549"/>
                <a:gd name="T36" fmla="*/ 531 w 1413"/>
                <a:gd name="T37" fmla="*/ 444 h 549"/>
                <a:gd name="T38" fmla="*/ 486 w 1413"/>
                <a:gd name="T39" fmla="*/ 427 h 549"/>
                <a:gd name="T40" fmla="*/ 459 w 1413"/>
                <a:gd name="T41" fmla="*/ 407 h 549"/>
                <a:gd name="T42" fmla="*/ 527 w 1413"/>
                <a:gd name="T43" fmla="*/ 389 h 549"/>
                <a:gd name="T44" fmla="*/ 572 w 1413"/>
                <a:gd name="T45" fmla="*/ 365 h 549"/>
                <a:gd name="T46" fmla="*/ 599 w 1413"/>
                <a:gd name="T47" fmla="*/ 339 h 549"/>
                <a:gd name="T48" fmla="*/ 634 w 1413"/>
                <a:gd name="T49" fmla="*/ 308 h 549"/>
                <a:gd name="T50" fmla="*/ 544 w 1413"/>
                <a:gd name="T51" fmla="*/ 334 h 549"/>
                <a:gd name="T52" fmla="*/ 463 w 1413"/>
                <a:gd name="T53" fmla="*/ 348 h 549"/>
                <a:gd name="T54" fmla="*/ 378 w 1413"/>
                <a:gd name="T55" fmla="*/ 356 h 549"/>
                <a:gd name="T56" fmla="*/ 303 w 1413"/>
                <a:gd name="T57" fmla="*/ 352 h 549"/>
                <a:gd name="T58" fmla="*/ 254 w 1413"/>
                <a:gd name="T59" fmla="*/ 334 h 549"/>
                <a:gd name="T60" fmla="*/ 233 w 1413"/>
                <a:gd name="T61" fmla="*/ 312 h 549"/>
                <a:gd name="T62" fmla="*/ 281 w 1413"/>
                <a:gd name="T63" fmla="*/ 291 h 549"/>
                <a:gd name="T64" fmla="*/ 313 w 1413"/>
                <a:gd name="T65" fmla="*/ 269 h 549"/>
                <a:gd name="T66" fmla="*/ 341 w 1413"/>
                <a:gd name="T67" fmla="*/ 244 h 549"/>
                <a:gd name="T68" fmla="*/ 339 w 1413"/>
                <a:gd name="T69" fmla="*/ 229 h 549"/>
                <a:gd name="T70" fmla="*/ 262 w 1413"/>
                <a:gd name="T71" fmla="*/ 246 h 549"/>
                <a:gd name="T72" fmla="*/ 179 w 1413"/>
                <a:gd name="T73" fmla="*/ 255 h 549"/>
                <a:gd name="T74" fmla="*/ 109 w 1413"/>
                <a:gd name="T75" fmla="*/ 254 h 549"/>
                <a:gd name="T76" fmla="*/ 51 w 1413"/>
                <a:gd name="T77" fmla="*/ 244 h 549"/>
                <a:gd name="T78" fmla="*/ 19 w 1413"/>
                <a:gd name="T79" fmla="*/ 229 h 549"/>
                <a:gd name="T80" fmla="*/ 0 w 1413"/>
                <a:gd name="T81" fmla="*/ 205 h 549"/>
                <a:gd name="T82" fmla="*/ 120 w 1413"/>
                <a:gd name="T83" fmla="*/ 187 h 549"/>
                <a:gd name="T84" fmla="*/ 309 w 1413"/>
                <a:gd name="T85" fmla="*/ 156 h 549"/>
                <a:gd name="T86" fmla="*/ 544 w 1413"/>
                <a:gd name="T87" fmla="*/ 119 h 549"/>
                <a:gd name="T88" fmla="*/ 742 w 1413"/>
                <a:gd name="T89" fmla="*/ 71 h 549"/>
                <a:gd name="T90" fmla="*/ 926 w 1413"/>
                <a:gd name="T91" fmla="*/ 26 h 549"/>
                <a:gd name="T92" fmla="*/ 1020 w 1413"/>
                <a:gd name="T93" fmla="*/ 9 h 549"/>
                <a:gd name="T94" fmla="*/ 1098 w 1413"/>
                <a:gd name="T95" fmla="*/ 0 h 549"/>
                <a:gd name="T96" fmla="*/ 1165 w 1413"/>
                <a:gd name="T97" fmla="*/ 2 h 549"/>
                <a:gd name="T98" fmla="*/ 1211 w 1413"/>
                <a:gd name="T99" fmla="*/ 7 h 549"/>
                <a:gd name="T100" fmla="*/ 1254 w 1413"/>
                <a:gd name="T101" fmla="*/ 27 h 549"/>
                <a:gd name="T102" fmla="*/ 1288 w 1413"/>
                <a:gd name="T103" fmla="*/ 71 h 549"/>
                <a:gd name="T104" fmla="*/ 1301 w 1413"/>
                <a:gd name="T105" fmla="*/ 117 h 549"/>
                <a:gd name="T106" fmla="*/ 1316 w 1413"/>
                <a:gd name="T107" fmla="*/ 148 h 549"/>
                <a:gd name="T108" fmla="*/ 1344 w 1413"/>
                <a:gd name="T109" fmla="*/ 159 h 549"/>
                <a:gd name="T110" fmla="*/ 1384 w 1413"/>
                <a:gd name="T111" fmla="*/ 156 h 549"/>
                <a:gd name="T112" fmla="*/ 1412 w 1413"/>
                <a:gd name="T113" fmla="*/ 145 h 549"/>
                <a:gd name="T114" fmla="*/ 1412 w 1413"/>
                <a:gd name="T115" fmla="*/ 548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413" h="549">
                  <a:moveTo>
                    <a:pt x="1412" y="548"/>
                  </a:moveTo>
                  <a:lnTo>
                    <a:pt x="1316" y="537"/>
                  </a:lnTo>
                  <a:lnTo>
                    <a:pt x="1237" y="524"/>
                  </a:lnTo>
                  <a:lnTo>
                    <a:pt x="1179" y="511"/>
                  </a:lnTo>
                  <a:lnTo>
                    <a:pt x="1118" y="499"/>
                  </a:lnTo>
                  <a:lnTo>
                    <a:pt x="1060" y="493"/>
                  </a:lnTo>
                  <a:lnTo>
                    <a:pt x="1000" y="495"/>
                  </a:lnTo>
                  <a:lnTo>
                    <a:pt x="939" y="499"/>
                  </a:lnTo>
                  <a:lnTo>
                    <a:pt x="894" y="482"/>
                  </a:lnTo>
                  <a:lnTo>
                    <a:pt x="962" y="440"/>
                  </a:lnTo>
                  <a:lnTo>
                    <a:pt x="1005" y="411"/>
                  </a:lnTo>
                  <a:lnTo>
                    <a:pt x="1043" y="381"/>
                  </a:lnTo>
                  <a:lnTo>
                    <a:pt x="1069" y="348"/>
                  </a:lnTo>
                  <a:lnTo>
                    <a:pt x="962" y="383"/>
                  </a:lnTo>
                  <a:lnTo>
                    <a:pt x="855" y="418"/>
                  </a:lnTo>
                  <a:lnTo>
                    <a:pt x="783" y="436"/>
                  </a:lnTo>
                  <a:lnTo>
                    <a:pt x="670" y="449"/>
                  </a:lnTo>
                  <a:lnTo>
                    <a:pt x="597" y="449"/>
                  </a:lnTo>
                  <a:lnTo>
                    <a:pt x="531" y="444"/>
                  </a:lnTo>
                  <a:lnTo>
                    <a:pt x="486" y="427"/>
                  </a:lnTo>
                  <a:lnTo>
                    <a:pt x="459" y="407"/>
                  </a:lnTo>
                  <a:lnTo>
                    <a:pt x="527" y="389"/>
                  </a:lnTo>
                  <a:lnTo>
                    <a:pt x="572" y="365"/>
                  </a:lnTo>
                  <a:lnTo>
                    <a:pt x="599" y="339"/>
                  </a:lnTo>
                  <a:lnTo>
                    <a:pt x="634" y="308"/>
                  </a:lnTo>
                  <a:lnTo>
                    <a:pt x="544" y="334"/>
                  </a:lnTo>
                  <a:lnTo>
                    <a:pt x="463" y="348"/>
                  </a:lnTo>
                  <a:lnTo>
                    <a:pt x="378" y="356"/>
                  </a:lnTo>
                  <a:lnTo>
                    <a:pt x="303" y="352"/>
                  </a:lnTo>
                  <a:lnTo>
                    <a:pt x="254" y="334"/>
                  </a:lnTo>
                  <a:lnTo>
                    <a:pt x="233" y="312"/>
                  </a:lnTo>
                  <a:lnTo>
                    <a:pt x="281" y="291"/>
                  </a:lnTo>
                  <a:lnTo>
                    <a:pt x="313" y="269"/>
                  </a:lnTo>
                  <a:lnTo>
                    <a:pt x="341" y="244"/>
                  </a:lnTo>
                  <a:lnTo>
                    <a:pt x="339" y="229"/>
                  </a:lnTo>
                  <a:lnTo>
                    <a:pt x="262" y="246"/>
                  </a:lnTo>
                  <a:lnTo>
                    <a:pt x="179" y="255"/>
                  </a:lnTo>
                  <a:lnTo>
                    <a:pt x="109" y="254"/>
                  </a:lnTo>
                  <a:lnTo>
                    <a:pt x="51" y="244"/>
                  </a:lnTo>
                  <a:lnTo>
                    <a:pt x="19" y="229"/>
                  </a:lnTo>
                  <a:lnTo>
                    <a:pt x="0" y="205"/>
                  </a:lnTo>
                  <a:lnTo>
                    <a:pt x="120" y="187"/>
                  </a:lnTo>
                  <a:lnTo>
                    <a:pt x="309" y="156"/>
                  </a:lnTo>
                  <a:lnTo>
                    <a:pt x="544" y="119"/>
                  </a:lnTo>
                  <a:lnTo>
                    <a:pt x="742" y="71"/>
                  </a:lnTo>
                  <a:lnTo>
                    <a:pt x="926" y="26"/>
                  </a:lnTo>
                  <a:lnTo>
                    <a:pt x="1020" y="9"/>
                  </a:lnTo>
                  <a:lnTo>
                    <a:pt x="1098" y="0"/>
                  </a:lnTo>
                  <a:lnTo>
                    <a:pt x="1165" y="2"/>
                  </a:lnTo>
                  <a:lnTo>
                    <a:pt x="1211" y="7"/>
                  </a:lnTo>
                  <a:lnTo>
                    <a:pt x="1254" y="27"/>
                  </a:lnTo>
                  <a:lnTo>
                    <a:pt x="1288" y="71"/>
                  </a:lnTo>
                  <a:lnTo>
                    <a:pt x="1301" y="117"/>
                  </a:lnTo>
                  <a:lnTo>
                    <a:pt x="1316" y="148"/>
                  </a:lnTo>
                  <a:lnTo>
                    <a:pt x="1344" y="159"/>
                  </a:lnTo>
                  <a:lnTo>
                    <a:pt x="1384" y="156"/>
                  </a:lnTo>
                  <a:lnTo>
                    <a:pt x="1412" y="145"/>
                  </a:lnTo>
                  <a:lnTo>
                    <a:pt x="1412" y="54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Oval 16"/>
            <p:cNvSpPr>
              <a:spLocks noChangeArrowheads="1"/>
            </p:cNvSpPr>
            <p:nvPr/>
          </p:nvSpPr>
          <p:spPr bwMode="auto">
            <a:xfrm>
              <a:off x="2785" y="355"/>
              <a:ext cx="187" cy="198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Freeform 17"/>
            <p:cNvSpPr>
              <a:spLocks/>
            </p:cNvSpPr>
            <p:nvPr/>
          </p:nvSpPr>
          <p:spPr bwMode="auto">
            <a:xfrm>
              <a:off x="2976" y="583"/>
              <a:ext cx="1413" cy="549"/>
            </a:xfrm>
            <a:custGeom>
              <a:avLst/>
              <a:gdLst>
                <a:gd name="T0" fmla="*/ 0 w 1413"/>
                <a:gd name="T1" fmla="*/ 548 h 549"/>
                <a:gd name="T2" fmla="*/ 96 w 1413"/>
                <a:gd name="T3" fmla="*/ 537 h 549"/>
                <a:gd name="T4" fmla="*/ 175 w 1413"/>
                <a:gd name="T5" fmla="*/ 524 h 549"/>
                <a:gd name="T6" fmla="*/ 233 w 1413"/>
                <a:gd name="T7" fmla="*/ 511 h 549"/>
                <a:gd name="T8" fmla="*/ 294 w 1413"/>
                <a:gd name="T9" fmla="*/ 499 h 549"/>
                <a:gd name="T10" fmla="*/ 352 w 1413"/>
                <a:gd name="T11" fmla="*/ 493 h 549"/>
                <a:gd name="T12" fmla="*/ 412 w 1413"/>
                <a:gd name="T13" fmla="*/ 495 h 549"/>
                <a:gd name="T14" fmla="*/ 473 w 1413"/>
                <a:gd name="T15" fmla="*/ 499 h 549"/>
                <a:gd name="T16" fmla="*/ 518 w 1413"/>
                <a:gd name="T17" fmla="*/ 482 h 549"/>
                <a:gd name="T18" fmla="*/ 450 w 1413"/>
                <a:gd name="T19" fmla="*/ 440 h 549"/>
                <a:gd name="T20" fmla="*/ 407 w 1413"/>
                <a:gd name="T21" fmla="*/ 411 h 549"/>
                <a:gd name="T22" fmla="*/ 369 w 1413"/>
                <a:gd name="T23" fmla="*/ 381 h 549"/>
                <a:gd name="T24" fmla="*/ 343 w 1413"/>
                <a:gd name="T25" fmla="*/ 348 h 549"/>
                <a:gd name="T26" fmla="*/ 450 w 1413"/>
                <a:gd name="T27" fmla="*/ 383 h 549"/>
                <a:gd name="T28" fmla="*/ 557 w 1413"/>
                <a:gd name="T29" fmla="*/ 418 h 549"/>
                <a:gd name="T30" fmla="*/ 629 w 1413"/>
                <a:gd name="T31" fmla="*/ 436 h 549"/>
                <a:gd name="T32" fmla="*/ 742 w 1413"/>
                <a:gd name="T33" fmla="*/ 449 h 549"/>
                <a:gd name="T34" fmla="*/ 815 w 1413"/>
                <a:gd name="T35" fmla="*/ 449 h 549"/>
                <a:gd name="T36" fmla="*/ 881 w 1413"/>
                <a:gd name="T37" fmla="*/ 444 h 549"/>
                <a:gd name="T38" fmla="*/ 926 w 1413"/>
                <a:gd name="T39" fmla="*/ 427 h 549"/>
                <a:gd name="T40" fmla="*/ 953 w 1413"/>
                <a:gd name="T41" fmla="*/ 407 h 549"/>
                <a:gd name="T42" fmla="*/ 885 w 1413"/>
                <a:gd name="T43" fmla="*/ 389 h 549"/>
                <a:gd name="T44" fmla="*/ 840 w 1413"/>
                <a:gd name="T45" fmla="*/ 365 h 549"/>
                <a:gd name="T46" fmla="*/ 809 w 1413"/>
                <a:gd name="T47" fmla="*/ 339 h 549"/>
                <a:gd name="T48" fmla="*/ 778 w 1413"/>
                <a:gd name="T49" fmla="*/ 308 h 549"/>
                <a:gd name="T50" fmla="*/ 868 w 1413"/>
                <a:gd name="T51" fmla="*/ 334 h 549"/>
                <a:gd name="T52" fmla="*/ 949 w 1413"/>
                <a:gd name="T53" fmla="*/ 348 h 549"/>
                <a:gd name="T54" fmla="*/ 1034 w 1413"/>
                <a:gd name="T55" fmla="*/ 356 h 549"/>
                <a:gd name="T56" fmla="*/ 1109 w 1413"/>
                <a:gd name="T57" fmla="*/ 352 h 549"/>
                <a:gd name="T58" fmla="*/ 1158 w 1413"/>
                <a:gd name="T59" fmla="*/ 334 h 549"/>
                <a:gd name="T60" fmla="*/ 1179 w 1413"/>
                <a:gd name="T61" fmla="*/ 312 h 549"/>
                <a:gd name="T62" fmla="*/ 1131 w 1413"/>
                <a:gd name="T63" fmla="*/ 291 h 549"/>
                <a:gd name="T64" fmla="*/ 1099 w 1413"/>
                <a:gd name="T65" fmla="*/ 269 h 549"/>
                <a:gd name="T66" fmla="*/ 1071 w 1413"/>
                <a:gd name="T67" fmla="*/ 244 h 549"/>
                <a:gd name="T68" fmla="*/ 1073 w 1413"/>
                <a:gd name="T69" fmla="*/ 229 h 549"/>
                <a:gd name="T70" fmla="*/ 1150 w 1413"/>
                <a:gd name="T71" fmla="*/ 246 h 549"/>
                <a:gd name="T72" fmla="*/ 1233 w 1413"/>
                <a:gd name="T73" fmla="*/ 255 h 549"/>
                <a:gd name="T74" fmla="*/ 1311 w 1413"/>
                <a:gd name="T75" fmla="*/ 253 h 549"/>
                <a:gd name="T76" fmla="*/ 1361 w 1413"/>
                <a:gd name="T77" fmla="*/ 244 h 549"/>
                <a:gd name="T78" fmla="*/ 1393 w 1413"/>
                <a:gd name="T79" fmla="*/ 229 h 549"/>
                <a:gd name="T80" fmla="*/ 1412 w 1413"/>
                <a:gd name="T81" fmla="*/ 205 h 549"/>
                <a:gd name="T82" fmla="*/ 1292 w 1413"/>
                <a:gd name="T83" fmla="*/ 187 h 549"/>
                <a:gd name="T84" fmla="*/ 1087 w 1413"/>
                <a:gd name="T85" fmla="*/ 158 h 549"/>
                <a:gd name="T86" fmla="*/ 868 w 1413"/>
                <a:gd name="T87" fmla="*/ 119 h 549"/>
                <a:gd name="T88" fmla="*/ 670 w 1413"/>
                <a:gd name="T89" fmla="*/ 71 h 549"/>
                <a:gd name="T90" fmla="*/ 486 w 1413"/>
                <a:gd name="T91" fmla="*/ 26 h 549"/>
                <a:gd name="T92" fmla="*/ 392 w 1413"/>
                <a:gd name="T93" fmla="*/ 9 h 549"/>
                <a:gd name="T94" fmla="*/ 314 w 1413"/>
                <a:gd name="T95" fmla="*/ 0 h 549"/>
                <a:gd name="T96" fmla="*/ 247 w 1413"/>
                <a:gd name="T97" fmla="*/ 2 h 549"/>
                <a:gd name="T98" fmla="*/ 201 w 1413"/>
                <a:gd name="T99" fmla="*/ 7 h 549"/>
                <a:gd name="T100" fmla="*/ 158 w 1413"/>
                <a:gd name="T101" fmla="*/ 27 h 549"/>
                <a:gd name="T102" fmla="*/ 124 w 1413"/>
                <a:gd name="T103" fmla="*/ 71 h 549"/>
                <a:gd name="T104" fmla="*/ 111 w 1413"/>
                <a:gd name="T105" fmla="*/ 117 h 549"/>
                <a:gd name="T106" fmla="*/ 96 w 1413"/>
                <a:gd name="T107" fmla="*/ 148 h 549"/>
                <a:gd name="T108" fmla="*/ 68 w 1413"/>
                <a:gd name="T109" fmla="*/ 159 h 549"/>
                <a:gd name="T110" fmla="*/ 28 w 1413"/>
                <a:gd name="T111" fmla="*/ 156 h 549"/>
                <a:gd name="T112" fmla="*/ 0 w 1413"/>
                <a:gd name="T113" fmla="*/ 145 h 549"/>
                <a:gd name="T114" fmla="*/ 0 w 1413"/>
                <a:gd name="T115" fmla="*/ 548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413" h="549">
                  <a:moveTo>
                    <a:pt x="0" y="548"/>
                  </a:moveTo>
                  <a:lnTo>
                    <a:pt x="96" y="537"/>
                  </a:lnTo>
                  <a:lnTo>
                    <a:pt x="175" y="524"/>
                  </a:lnTo>
                  <a:lnTo>
                    <a:pt x="233" y="511"/>
                  </a:lnTo>
                  <a:lnTo>
                    <a:pt x="294" y="499"/>
                  </a:lnTo>
                  <a:lnTo>
                    <a:pt x="352" y="493"/>
                  </a:lnTo>
                  <a:lnTo>
                    <a:pt x="412" y="495"/>
                  </a:lnTo>
                  <a:lnTo>
                    <a:pt x="473" y="499"/>
                  </a:lnTo>
                  <a:lnTo>
                    <a:pt x="518" y="482"/>
                  </a:lnTo>
                  <a:lnTo>
                    <a:pt x="450" y="440"/>
                  </a:lnTo>
                  <a:lnTo>
                    <a:pt x="407" y="411"/>
                  </a:lnTo>
                  <a:lnTo>
                    <a:pt x="369" y="381"/>
                  </a:lnTo>
                  <a:lnTo>
                    <a:pt x="343" y="348"/>
                  </a:lnTo>
                  <a:lnTo>
                    <a:pt x="450" y="383"/>
                  </a:lnTo>
                  <a:lnTo>
                    <a:pt x="557" y="418"/>
                  </a:lnTo>
                  <a:lnTo>
                    <a:pt x="629" y="436"/>
                  </a:lnTo>
                  <a:lnTo>
                    <a:pt x="742" y="449"/>
                  </a:lnTo>
                  <a:lnTo>
                    <a:pt x="815" y="449"/>
                  </a:lnTo>
                  <a:lnTo>
                    <a:pt x="881" y="444"/>
                  </a:lnTo>
                  <a:lnTo>
                    <a:pt x="926" y="427"/>
                  </a:lnTo>
                  <a:lnTo>
                    <a:pt x="953" y="407"/>
                  </a:lnTo>
                  <a:lnTo>
                    <a:pt x="885" y="389"/>
                  </a:lnTo>
                  <a:lnTo>
                    <a:pt x="840" y="365"/>
                  </a:lnTo>
                  <a:lnTo>
                    <a:pt x="809" y="339"/>
                  </a:lnTo>
                  <a:lnTo>
                    <a:pt x="778" y="308"/>
                  </a:lnTo>
                  <a:lnTo>
                    <a:pt x="868" y="334"/>
                  </a:lnTo>
                  <a:lnTo>
                    <a:pt x="949" y="348"/>
                  </a:lnTo>
                  <a:lnTo>
                    <a:pt x="1034" y="356"/>
                  </a:lnTo>
                  <a:lnTo>
                    <a:pt x="1109" y="352"/>
                  </a:lnTo>
                  <a:lnTo>
                    <a:pt x="1158" y="334"/>
                  </a:lnTo>
                  <a:lnTo>
                    <a:pt x="1179" y="312"/>
                  </a:lnTo>
                  <a:lnTo>
                    <a:pt x="1131" y="291"/>
                  </a:lnTo>
                  <a:lnTo>
                    <a:pt x="1099" y="269"/>
                  </a:lnTo>
                  <a:lnTo>
                    <a:pt x="1071" y="244"/>
                  </a:lnTo>
                  <a:lnTo>
                    <a:pt x="1073" y="229"/>
                  </a:lnTo>
                  <a:lnTo>
                    <a:pt x="1150" y="246"/>
                  </a:lnTo>
                  <a:lnTo>
                    <a:pt x="1233" y="255"/>
                  </a:lnTo>
                  <a:lnTo>
                    <a:pt x="1311" y="253"/>
                  </a:lnTo>
                  <a:lnTo>
                    <a:pt x="1361" y="244"/>
                  </a:lnTo>
                  <a:lnTo>
                    <a:pt x="1393" y="229"/>
                  </a:lnTo>
                  <a:lnTo>
                    <a:pt x="1412" y="205"/>
                  </a:lnTo>
                  <a:lnTo>
                    <a:pt x="1292" y="187"/>
                  </a:lnTo>
                  <a:lnTo>
                    <a:pt x="1087" y="158"/>
                  </a:lnTo>
                  <a:lnTo>
                    <a:pt x="868" y="119"/>
                  </a:lnTo>
                  <a:lnTo>
                    <a:pt x="670" y="71"/>
                  </a:lnTo>
                  <a:lnTo>
                    <a:pt x="486" y="26"/>
                  </a:lnTo>
                  <a:lnTo>
                    <a:pt x="392" y="9"/>
                  </a:lnTo>
                  <a:lnTo>
                    <a:pt x="314" y="0"/>
                  </a:lnTo>
                  <a:lnTo>
                    <a:pt x="247" y="2"/>
                  </a:lnTo>
                  <a:lnTo>
                    <a:pt x="201" y="7"/>
                  </a:lnTo>
                  <a:lnTo>
                    <a:pt x="158" y="27"/>
                  </a:lnTo>
                  <a:lnTo>
                    <a:pt x="124" y="71"/>
                  </a:lnTo>
                  <a:lnTo>
                    <a:pt x="111" y="117"/>
                  </a:lnTo>
                  <a:lnTo>
                    <a:pt x="96" y="148"/>
                  </a:lnTo>
                  <a:lnTo>
                    <a:pt x="68" y="159"/>
                  </a:lnTo>
                  <a:lnTo>
                    <a:pt x="28" y="156"/>
                  </a:lnTo>
                  <a:lnTo>
                    <a:pt x="0" y="145"/>
                  </a:lnTo>
                  <a:lnTo>
                    <a:pt x="0" y="54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656212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solidFill>
            <a:schemeClr val="accent2"/>
          </a:soli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bg2"/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bg2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bg2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bg2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bg2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bg2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bg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bg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bg2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olab.research.google.com/drive/1PPY9pq2T1VRwA6jh9rx9cRd96XrvbcpK?usp=sharing" TargetMode="External"/><Relationship Id="rId4" Type="http://schemas.openxmlformats.org/officeDocument/2006/relationships/hyperlink" Target="https://github.com/HertsHackathongroupN/Hackthon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8619" y="1894114"/>
            <a:ext cx="6018245" cy="802433"/>
          </a:xfrm>
        </p:spPr>
        <p:txBody>
          <a:bodyPr/>
          <a:lstStyle/>
          <a:p>
            <a:r>
              <a:rPr lang="en-US" dirty="0"/>
              <a:t>Group project - Data Science Challenge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8620" y="288339"/>
            <a:ext cx="12033380" cy="868657"/>
          </a:xfrm>
        </p:spPr>
        <p:txBody>
          <a:bodyPr>
            <a:normAutofit/>
          </a:bodyPr>
          <a:lstStyle/>
          <a:p>
            <a:r>
              <a:rPr lang="en-US" sz="4000" dirty="0"/>
              <a:t>H1N1 Vaccine Prediction Using Machine Learning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DD0E4A-46D3-61DB-B7A3-2F7AB68858F5}"/>
              </a:ext>
            </a:extLst>
          </p:cNvPr>
          <p:cNvSpPr txBox="1"/>
          <p:nvPr/>
        </p:nvSpPr>
        <p:spPr>
          <a:xfrm>
            <a:off x="158619" y="1340889"/>
            <a:ext cx="593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7PAM2015-0509-2025 - Research Methods In Data Science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36172-1069-70EA-5AFD-DF517147D8B7}"/>
              </a:ext>
            </a:extLst>
          </p:cNvPr>
          <p:cNvSpPr txBox="1"/>
          <p:nvPr/>
        </p:nvSpPr>
        <p:spPr>
          <a:xfrm>
            <a:off x="2111828" y="2799183"/>
            <a:ext cx="8126963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 N 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23096901 - Ravi. Pranusha,</a:t>
            </a:r>
            <a:br>
              <a:rPr lang="en-US" dirty="0"/>
            </a:br>
            <a:r>
              <a:rPr lang="sv-SE" dirty="0"/>
              <a:t>23091055 - jagan satwik pinnam reddy ,</a:t>
            </a:r>
            <a:br>
              <a:rPr lang="en-US" dirty="0"/>
            </a:br>
            <a:r>
              <a:rPr lang="en-US" dirty="0"/>
              <a:t>23096047 - Varun Paka ,</a:t>
            </a:r>
          </a:p>
          <a:p>
            <a:pPr algn="ctr"/>
            <a:r>
              <a:rPr lang="en-US" dirty="0"/>
              <a:t>23100228 - Nasar Reddy Naru ,</a:t>
            </a:r>
            <a:br>
              <a:rPr lang="en-US" dirty="0"/>
            </a:br>
            <a:r>
              <a:rPr lang="en-US" dirty="0"/>
              <a:t>23103084 - Shashank Shivakoti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0320BF-2501-3C45-B00D-2587231EF5D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464758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0636899" y="5640355"/>
            <a:ext cx="1421556" cy="1124510"/>
          </a:xfrm>
          <a:prstGeom prst="rect">
            <a:avLst/>
          </a:prstGeom>
          <a:ln>
            <a:noFill/>
          </a:ln>
          <a:effectLst>
            <a:innerShdw blurRad="114300">
              <a:prstClr val="black"/>
            </a:inn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B2E22E3-82F9-9108-5F62-C6A5E5E68756}"/>
              </a:ext>
            </a:extLst>
          </p:cNvPr>
          <p:cNvSpPr txBox="1"/>
          <p:nvPr/>
        </p:nvSpPr>
        <p:spPr>
          <a:xfrm>
            <a:off x="527283" y="4994024"/>
            <a:ext cx="24699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4"/>
              </a:rPr>
              <a:t>GitHub</a:t>
            </a:r>
            <a:r>
              <a:rPr lang="en-IN" dirty="0"/>
              <a:t> Link</a:t>
            </a:r>
          </a:p>
          <a:p>
            <a:r>
              <a:rPr lang="en-IN" dirty="0">
                <a:hlinkClick r:id="rId5"/>
              </a:rPr>
              <a:t>Google Collab </a:t>
            </a:r>
            <a:r>
              <a:rPr lang="en-IN" dirty="0"/>
              <a:t>Link</a:t>
            </a:r>
          </a:p>
        </p:txBody>
      </p:sp>
    </p:spTree>
    <p:extLst>
      <p:ext uri="{BB962C8B-B14F-4D97-AF65-F5344CB8AC3E}">
        <p14:creationId xmlns:p14="http://schemas.microsoft.com/office/powerpoint/2010/main" val="1297645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2FC864-64B0-72F1-685D-8A4DE7D18570}"/>
              </a:ext>
            </a:extLst>
          </p:cNvPr>
          <p:cNvSpPr txBox="1"/>
          <p:nvPr/>
        </p:nvSpPr>
        <p:spPr>
          <a:xfrm>
            <a:off x="569168" y="1530221"/>
            <a:ext cx="10133045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H1N1 influenza can have serious public health impacts.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Understanding vaccination behavior can improve public health planning.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Predict whether an individual received the H1N1 vaccine.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Objective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Explore the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Apply preprocessing techniques.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 and compare 5 machine learning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Select the best-performing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SHAP for model explainability.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C38D4F-A30E-B33F-6E1F-F3871B4BB79A}"/>
              </a:ext>
            </a:extLst>
          </p:cNvPr>
          <p:cNvSpPr txBox="1"/>
          <p:nvPr/>
        </p:nvSpPr>
        <p:spPr>
          <a:xfrm>
            <a:off x="569168" y="508996"/>
            <a:ext cx="9414588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cap="all" dirty="0">
                <a:ln w="6350">
                  <a:noFill/>
                </a:ln>
                <a:solidFill>
                  <a:schemeClr val="accent2"/>
                </a:soli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Problem Statement and Objective</a:t>
            </a:r>
          </a:p>
        </p:txBody>
      </p:sp>
    </p:spTree>
    <p:extLst>
      <p:ext uri="{BB962C8B-B14F-4D97-AF65-F5344CB8AC3E}">
        <p14:creationId xmlns:p14="http://schemas.microsoft.com/office/powerpoint/2010/main" val="2901034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227044" y="1180322"/>
            <a:ext cx="2721429" cy="454549"/>
          </a:xfrm>
        </p:spPr>
        <p:txBody>
          <a:bodyPr>
            <a:normAutofit lnSpcReduction="10000"/>
          </a:bodyPr>
          <a:lstStyle/>
          <a:p>
            <a:pPr marL="137160" lvl="0" indent="0">
              <a:buNone/>
            </a:pPr>
            <a:r>
              <a:rPr lang="en-IN" sz="2400" dirty="0"/>
              <a:t>Dataset Summary</a:t>
            </a:r>
          </a:p>
          <a:p>
            <a:pPr marL="137160" lvl="0" indent="0">
              <a:buNone/>
            </a:pPr>
            <a:endParaRPr lang="en-US" sz="2400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017967" cy="789052"/>
          </a:xfrm>
        </p:spPr>
        <p:txBody>
          <a:bodyPr>
            <a:normAutofit fontScale="90000"/>
          </a:bodyPr>
          <a:lstStyle/>
          <a:p>
            <a:r>
              <a:rPr lang="en-US" dirty="0"/>
              <a:t>Dataset Overview </a:t>
            </a:r>
            <a:r>
              <a:rPr lang="en-IN" dirty="0"/>
              <a:t>&amp; Exploratory Data Analysis</a:t>
            </a: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9A4C297-136A-6D04-CB42-9CDA92FDD2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1268676"/>
              </p:ext>
            </p:extLst>
          </p:nvPr>
        </p:nvGraphicFramePr>
        <p:xfrm>
          <a:off x="227044" y="1634871"/>
          <a:ext cx="4690190" cy="21945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345095">
                  <a:extLst>
                    <a:ext uri="{9D8B030D-6E8A-4147-A177-3AD203B41FA5}">
                      <a16:colId xmlns:a16="http://schemas.microsoft.com/office/drawing/2014/main" val="4027346659"/>
                    </a:ext>
                  </a:extLst>
                </a:gridCol>
                <a:gridCol w="2345095">
                  <a:extLst>
                    <a:ext uri="{9D8B030D-6E8A-4147-A177-3AD203B41FA5}">
                      <a16:colId xmlns:a16="http://schemas.microsoft.com/office/drawing/2014/main" val="2472676730"/>
                    </a:ext>
                  </a:extLst>
                </a:gridCol>
              </a:tblGrid>
              <a:tr h="3651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4509096"/>
                  </a:ext>
                </a:extLst>
              </a:tr>
              <a:tr h="3651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Total 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4,756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1634966"/>
                  </a:ext>
                </a:extLst>
              </a:tr>
              <a:tr h="3651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Total Columns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782651"/>
                  </a:ext>
                </a:extLst>
              </a:tr>
              <a:tr h="3651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Predictor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5698711"/>
                  </a:ext>
                </a:extLst>
              </a:tr>
              <a:tr h="3651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Target 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h1n1_vaccine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6164657"/>
                  </a:ext>
                </a:extLst>
              </a:tr>
              <a:tr h="3651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Problem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Binary Classification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953565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10DFC22-B969-CA0C-CF22-13E26EF9859C}"/>
              </a:ext>
            </a:extLst>
          </p:cNvPr>
          <p:cNvSpPr txBox="1"/>
          <p:nvPr/>
        </p:nvSpPr>
        <p:spPr>
          <a:xfrm>
            <a:off x="4917234" y="1176763"/>
            <a:ext cx="4413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Feature Categories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F1A64A-E9BE-698B-10CD-6B26DDB5B8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615837"/>
              </p:ext>
            </p:extLst>
          </p:nvPr>
        </p:nvGraphicFramePr>
        <p:xfrm>
          <a:off x="4991879" y="1634871"/>
          <a:ext cx="6245290" cy="1463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122645">
                  <a:extLst>
                    <a:ext uri="{9D8B030D-6E8A-4147-A177-3AD203B41FA5}">
                      <a16:colId xmlns:a16="http://schemas.microsoft.com/office/drawing/2014/main" val="3869392347"/>
                    </a:ext>
                  </a:extLst>
                </a:gridCol>
                <a:gridCol w="3122645">
                  <a:extLst>
                    <a:ext uri="{9D8B030D-6E8A-4147-A177-3AD203B41FA5}">
                      <a16:colId xmlns:a16="http://schemas.microsoft.com/office/drawing/2014/main" val="13218232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Feature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3098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Binary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078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Ordinal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8205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Categorical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3938531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9B7231C-5D8F-B86C-2B47-12F77268AB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424306"/>
              </p:ext>
            </p:extLst>
          </p:nvPr>
        </p:nvGraphicFramePr>
        <p:xfrm>
          <a:off x="2756160" y="4031758"/>
          <a:ext cx="4322148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61074">
                  <a:extLst>
                    <a:ext uri="{9D8B030D-6E8A-4147-A177-3AD203B41FA5}">
                      <a16:colId xmlns:a16="http://schemas.microsoft.com/office/drawing/2014/main" val="1989672140"/>
                    </a:ext>
                  </a:extLst>
                </a:gridCol>
                <a:gridCol w="2161074">
                  <a:extLst>
                    <a:ext uri="{9D8B030D-6E8A-4147-A177-3AD203B41FA5}">
                      <a16:colId xmlns:a16="http://schemas.microsoft.com/office/drawing/2014/main" val="4157022209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Target Distribution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h1n1_vaccine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22017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60.59 %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641037"/>
                  </a:ext>
                </a:extLst>
              </a:tr>
              <a:tr h="333829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39.40 %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1543193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C3B2A3B-567C-A184-47D9-D185562CA477}"/>
              </a:ext>
            </a:extLst>
          </p:cNvPr>
          <p:cNvSpPr txBox="1"/>
          <p:nvPr/>
        </p:nvSpPr>
        <p:spPr>
          <a:xfrm>
            <a:off x="227044" y="5928019"/>
            <a:ext cx="66869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dataset is moderately imbalanced but still suitable for classification.</a:t>
            </a: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64B4750E-38D3-739C-C21F-AF37D6CDF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duotone>
              <a:prstClr val="black"/>
              <a:srgbClr val="48495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2953" y="3097911"/>
            <a:ext cx="4920859" cy="3629460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5519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538" y="265778"/>
            <a:ext cx="5330890" cy="1143000"/>
          </a:xfrm>
        </p:spPr>
        <p:txBody>
          <a:bodyPr/>
          <a:lstStyle/>
          <a:p>
            <a:r>
              <a:rPr lang="en-IN" dirty="0"/>
              <a:t>Missing Values Analysis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44576B-BFE2-27F4-30F0-2C394439175F}"/>
              </a:ext>
            </a:extLst>
          </p:cNvPr>
          <p:cNvSpPr txBox="1"/>
          <p:nvPr/>
        </p:nvSpPr>
        <p:spPr>
          <a:xfrm>
            <a:off x="6997960" y="265778"/>
            <a:ext cx="5001207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Key Findings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Employment Sector had the highest missing rate (49.7%).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Health Insurance contained 40.5% missing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Income Poverty had 15.0% missing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Most remaining features contained less than 10% missing data.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319CE9-1CAD-C95F-69D7-6F6EA5E3DBC0}"/>
              </a:ext>
            </a:extLst>
          </p:cNvPr>
          <p:cNvSpPr txBox="1"/>
          <p:nvPr/>
        </p:nvSpPr>
        <p:spPr>
          <a:xfrm>
            <a:off x="6997960" y="3004989"/>
            <a:ext cx="5439747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Challenge</a:t>
            </a:r>
          </a:p>
          <a:p>
            <a:pPr>
              <a:buNone/>
            </a:pPr>
            <a:endParaRPr lang="en-US" sz="2000" b="1" dirty="0"/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dirty="0"/>
              <a:t>Several features contained incomplete observations.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dirty="0"/>
              <a:t>Missing data can introduce bias and reduce predictive performance.</a:t>
            </a:r>
          </a:p>
          <a:p>
            <a:pPr>
              <a:buNone/>
            </a:pPr>
            <a:r>
              <a:rPr lang="en-US" sz="2000" b="1" dirty="0"/>
              <a:t>Solution</a:t>
            </a:r>
          </a:p>
          <a:p>
            <a:pPr>
              <a:buNone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Binary, ordinal and categorical features were treated separately.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Appropriate imputation techniques were applied before model training.</a:t>
            </a:r>
          </a:p>
        </p:txBody>
      </p:sp>
      <p:pic>
        <p:nvPicPr>
          <p:cNvPr id="3082" name="Picture 10">
            <a:extLst>
              <a:ext uri="{FF2B5EF4-FFF2-40B4-BE49-F238E27FC236}">
                <a16:creationId xmlns:a16="http://schemas.microsoft.com/office/drawing/2014/main" id="{2134E5FB-EE86-9C5B-060A-3D6DCBD83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rgbClr val="48495A">
                <a:tint val="45000"/>
                <a:satMod val="400000"/>
              </a:srgbClr>
            </a:duoton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63" y="1459434"/>
            <a:ext cx="6948197" cy="4807987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1102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7072604" y="162670"/>
            <a:ext cx="4509796" cy="3812172"/>
          </a:xfrm>
        </p:spPr>
        <p:txBody>
          <a:bodyPr>
            <a:normAutofit fontScale="62500" lnSpcReduction="20000"/>
          </a:bodyPr>
          <a:lstStyle/>
          <a:p>
            <a:pPr marL="137160" indent="0">
              <a:buNone/>
            </a:pPr>
            <a:r>
              <a:rPr lang="en-IN" sz="3800" b="1" dirty="0"/>
              <a:t>Key Findings </a:t>
            </a:r>
          </a:p>
          <a:p>
            <a:pPr marL="137160" indent="0">
              <a:buNone/>
            </a:pPr>
            <a:endParaRPr lang="en-IN" dirty="0"/>
          </a:p>
          <a:p>
            <a:r>
              <a:rPr lang="en-US" dirty="0"/>
              <a:t>Most feature correlations were weak to moderate, indicating low multicollinearity.</a:t>
            </a:r>
          </a:p>
          <a:p>
            <a:r>
              <a:rPr lang="en-US" dirty="0"/>
              <a:t>Doctor recc h1n1 showed one of the strongest positive correlations with vaccination status (0.4).</a:t>
            </a:r>
          </a:p>
          <a:p>
            <a:r>
              <a:rPr lang="en-US" dirty="0"/>
              <a:t>Opinion h1n1 risk and opinion h1n1 vacc effective were positively associated with vaccine uptake.</a:t>
            </a:r>
          </a:p>
          <a:p>
            <a:r>
              <a:rPr lang="en-US" dirty="0"/>
              <a:t>behavioral large gatherings and behavioral outside home showed a relatively strong relationship (0.6), suggesting similar preventive behaviors.</a:t>
            </a:r>
          </a:p>
          <a:p>
            <a:r>
              <a:rPr lang="en-US" dirty="0"/>
              <a:t> No highly correlated feature pairs were identified that required removal from the dataset.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2669"/>
            <a:ext cx="5324669" cy="714407"/>
          </a:xfrm>
        </p:spPr>
        <p:txBody>
          <a:bodyPr>
            <a:normAutofit fontScale="90000"/>
          </a:bodyPr>
          <a:lstStyle/>
          <a:p>
            <a:r>
              <a:rPr lang="en-US" dirty="0"/>
              <a:t>Correlation Analysis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CB33E54-5D2D-1960-8646-D2D219CEDE4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alphaModFix/>
            <a:duotone>
              <a:prstClr val="black"/>
              <a:srgbClr val="48495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281" y="961053"/>
            <a:ext cx="7025951" cy="5896947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C1A9FA-525B-56D8-CD9F-F7C8141664BB}"/>
              </a:ext>
            </a:extLst>
          </p:cNvPr>
          <p:cNvSpPr txBox="1"/>
          <p:nvPr/>
        </p:nvSpPr>
        <p:spPr>
          <a:xfrm>
            <a:off x="7352521" y="3909526"/>
            <a:ext cx="4662198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Importance</a:t>
            </a:r>
          </a:p>
          <a:p>
            <a:endParaRPr lang="en-IN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/>
              <a:t>Helps identify relationships between variables before modelling.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/>
              <a:t>Detects potential multicollinearity that could affect model performance.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/>
              <a:t>Provides insights into factors influencing vaccination behaviour.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/>
              <a:t>Supports feature interpretation and validates model findings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3894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39138" y="60649"/>
            <a:ext cx="6562531" cy="1143000"/>
          </a:xfrm>
        </p:spPr>
        <p:txBody>
          <a:bodyPr>
            <a:normAutofit/>
          </a:bodyPr>
          <a:lstStyle/>
          <a:p>
            <a:r>
              <a:rPr lang="en-US" dirty="0"/>
              <a:t>Project Workflow</a:t>
            </a:r>
          </a:p>
        </p:txBody>
      </p:sp>
      <p:pic>
        <p:nvPicPr>
          <p:cNvPr id="5128" name="Picture 8">
            <a:extLst>
              <a:ext uri="{FF2B5EF4-FFF2-40B4-BE49-F238E27FC236}">
                <a16:creationId xmlns:a16="http://schemas.microsoft.com/office/drawing/2014/main" id="{7ACEBE92-57B9-B020-D1DB-65590D31764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alphaModFix/>
            <a:duotone>
              <a:prstClr val="black"/>
              <a:srgbClr val="48495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5384800" cy="6858000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6F8B94D-95AF-37C3-3B24-482079BB63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58408" y="1203649"/>
            <a:ext cx="6123992" cy="5449078"/>
          </a:xfrm>
        </p:spPr>
        <p:txBody>
          <a:bodyPr>
            <a:normAutofit fontScale="70000" lnSpcReduction="20000"/>
          </a:bodyPr>
          <a:lstStyle/>
          <a:p>
            <a:pPr marL="137160" indent="0">
              <a:buNone/>
            </a:pPr>
            <a:r>
              <a:rPr lang="en-IN" sz="3600" b="1" dirty="0"/>
              <a:t>Key Activities</a:t>
            </a:r>
          </a:p>
          <a:p>
            <a:pPr marL="137160" indent="0">
              <a:buNone/>
            </a:pPr>
            <a:endParaRPr lang="en-IN" sz="3600" b="1" spc="300" dirty="0"/>
          </a:p>
          <a:p>
            <a:r>
              <a:rPr lang="en-IN" dirty="0"/>
              <a:t>Performed EDA, target distribution analysis and correlation analysis.</a:t>
            </a:r>
          </a:p>
          <a:p>
            <a:r>
              <a:rPr lang="en-IN" dirty="0"/>
              <a:t>Handled missing values using Mode Imputation and KNN Imputation.</a:t>
            </a:r>
          </a:p>
          <a:p>
            <a:r>
              <a:rPr lang="en-IN" dirty="0"/>
              <a:t>Applied One-Hot Encoding and Standard Scaling through a preprocessing pipeline.</a:t>
            </a:r>
          </a:p>
          <a:p>
            <a:r>
              <a:rPr lang="en-IN" dirty="0"/>
              <a:t>Trained and compared five models: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Logistic Regression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Random Forest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XG Boost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Tuned XG Boost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Gradient Boosting</a:t>
            </a:r>
          </a:p>
          <a:p>
            <a:r>
              <a:rPr lang="en-IN" dirty="0"/>
              <a:t>Evaluated models using Accuracy, Precision, Recall and F1 Score.</a:t>
            </a:r>
          </a:p>
          <a:p>
            <a:r>
              <a:rPr lang="en-IN" dirty="0"/>
              <a:t>Generated predictions for Dataset_B_Testing.csv and created submission files.</a:t>
            </a:r>
          </a:p>
          <a:p>
            <a:r>
              <a:rPr lang="en-IN" dirty="0"/>
              <a:t>Applied SHAP Explainable AI to interpret model predictions.</a:t>
            </a:r>
          </a:p>
        </p:txBody>
      </p:sp>
    </p:spTree>
    <p:extLst>
      <p:ext uri="{BB962C8B-B14F-4D97-AF65-F5344CB8AC3E}">
        <p14:creationId xmlns:p14="http://schemas.microsoft.com/office/powerpoint/2010/main" val="1949880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F73C2AC-3D5D-0912-3A98-DF9C1D6940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2707" y="1141709"/>
            <a:ext cx="3552093" cy="536847"/>
          </a:xfrm>
        </p:spPr>
        <p:txBody>
          <a:bodyPr/>
          <a:lstStyle/>
          <a:p>
            <a:r>
              <a:rPr lang="en-IN" dirty="0"/>
              <a:t>Models Evaluated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80A8233-8F79-25D7-6A0F-A9EDF1F34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8142" y="182820"/>
            <a:ext cx="9505024" cy="690465"/>
          </a:xfrm>
        </p:spPr>
        <p:txBody>
          <a:bodyPr>
            <a:normAutofit fontScale="90000"/>
          </a:bodyPr>
          <a:lstStyle/>
          <a:p>
            <a:r>
              <a:rPr lang="en-IN" dirty="0"/>
              <a:t>Machine Learning Models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90BA55-8B76-6127-6B37-409B991502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293562"/>
              </p:ext>
            </p:extLst>
          </p:nvPr>
        </p:nvGraphicFramePr>
        <p:xfrm>
          <a:off x="562707" y="1678556"/>
          <a:ext cx="10972800" cy="21945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49103563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61856583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40477431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2872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Linear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Baseline Performance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446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Ensemble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Reduce Overfitting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1504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XG 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Boosting 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Improve Predictive Power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4543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Tuned XGBoost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Optimized XGBoost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Hyperparameter Optimisation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2946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Gradient Boosting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Boosting 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Sequential Error Reduction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5685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76BC342-28B4-D52B-B0CF-44E8D2EAEE45}"/>
              </a:ext>
            </a:extLst>
          </p:cNvPr>
          <p:cNvSpPr txBox="1"/>
          <p:nvPr/>
        </p:nvSpPr>
        <p:spPr>
          <a:xfrm>
            <a:off x="1" y="3873116"/>
            <a:ext cx="593344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Hyperparameter Tuning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Tuned XG Boost Randomized Search CV was used for optimization.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20 parameter combinations were evaluated.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5-fold Cross Validation was applied.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F1 Score was used as the optimization metric.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18E180-AE29-2803-2846-138C5A9EB2E1}"/>
              </a:ext>
            </a:extLst>
          </p:cNvPr>
          <p:cNvSpPr txBox="1"/>
          <p:nvPr/>
        </p:nvSpPr>
        <p:spPr>
          <a:xfrm>
            <a:off x="5589463" y="3932949"/>
            <a:ext cx="6602536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Key Activities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Trained five machine learning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Compared baseline, ensemble and boosting approaches.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Although Tuned XG Boost uses the same algorithm as XG Boost, different hyperparameter settings resulted in a separate trained model with different prediction behavior.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Selected the best-performing model for prediction generation.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7862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69801-EECE-B9B4-D902-3E5FBE5F1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28042" y="96308"/>
            <a:ext cx="7392955" cy="537125"/>
          </a:xfrm>
        </p:spPr>
        <p:txBody>
          <a:bodyPr>
            <a:normAutofit fontScale="90000"/>
          </a:bodyPr>
          <a:lstStyle/>
          <a:p>
            <a:r>
              <a:rPr lang="en-IN" dirty="0"/>
              <a:t>Model Performance Comparison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0B0F676-E93E-6BB7-CADC-BE6CD1F381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1243554"/>
              </p:ext>
            </p:extLst>
          </p:nvPr>
        </p:nvGraphicFramePr>
        <p:xfrm>
          <a:off x="0" y="4388802"/>
          <a:ext cx="11411340" cy="230832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845977">
                  <a:extLst>
                    <a:ext uri="{9D8B030D-6E8A-4147-A177-3AD203B41FA5}">
                      <a16:colId xmlns:a16="http://schemas.microsoft.com/office/drawing/2014/main" val="1934506075"/>
                    </a:ext>
                  </a:extLst>
                </a:gridCol>
                <a:gridCol w="2957803">
                  <a:extLst>
                    <a:ext uri="{9D8B030D-6E8A-4147-A177-3AD203B41FA5}">
                      <a16:colId xmlns:a16="http://schemas.microsoft.com/office/drawing/2014/main" val="2140722849"/>
                    </a:ext>
                  </a:extLst>
                </a:gridCol>
                <a:gridCol w="1901890">
                  <a:extLst>
                    <a:ext uri="{9D8B030D-6E8A-4147-A177-3AD203B41FA5}">
                      <a16:colId xmlns:a16="http://schemas.microsoft.com/office/drawing/2014/main" val="780411921"/>
                    </a:ext>
                  </a:extLst>
                </a:gridCol>
                <a:gridCol w="1901890">
                  <a:extLst>
                    <a:ext uri="{9D8B030D-6E8A-4147-A177-3AD203B41FA5}">
                      <a16:colId xmlns:a16="http://schemas.microsoft.com/office/drawing/2014/main" val="2393922463"/>
                    </a:ext>
                  </a:extLst>
                </a:gridCol>
                <a:gridCol w="1901890">
                  <a:extLst>
                    <a:ext uri="{9D8B030D-6E8A-4147-A177-3AD203B41FA5}">
                      <a16:colId xmlns:a16="http://schemas.microsoft.com/office/drawing/2014/main" val="960942706"/>
                    </a:ext>
                  </a:extLst>
                </a:gridCol>
                <a:gridCol w="1901890">
                  <a:extLst>
                    <a:ext uri="{9D8B030D-6E8A-4147-A177-3AD203B41FA5}">
                      <a16:colId xmlns:a16="http://schemas.microsoft.com/office/drawing/2014/main" val="3890537357"/>
                    </a:ext>
                  </a:extLst>
                </a:gridCol>
              </a:tblGrid>
              <a:tr h="384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F1 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2316608"/>
                  </a:ext>
                </a:extLst>
              </a:tr>
              <a:tr h="384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Gradient Boosting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0.768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0.727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0.653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0.689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3289156"/>
                  </a:ext>
                </a:extLst>
              </a:tr>
              <a:tr h="384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XGBoost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0.758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0.713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0.648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0.679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0157603"/>
                  </a:ext>
                </a:extLst>
              </a:tr>
              <a:tr h="384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0.759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0.727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0.624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0.671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3576098"/>
                  </a:ext>
                </a:extLst>
              </a:tr>
              <a:tr h="384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Tuned XGBoost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0.755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0.713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0.635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0.671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721346"/>
                  </a:ext>
                </a:extLst>
              </a:tr>
              <a:tr h="384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0.756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0.741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0.587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0.655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011879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2518F18-0969-49DC-AE07-442894CC5FBC}"/>
              </a:ext>
            </a:extLst>
          </p:cNvPr>
          <p:cNvSpPr txBox="1"/>
          <p:nvPr/>
        </p:nvSpPr>
        <p:spPr>
          <a:xfrm>
            <a:off x="6964913" y="421652"/>
            <a:ext cx="5351495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Key Findings</a:t>
            </a:r>
          </a:p>
          <a:p>
            <a:endParaRPr lang="en-US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Gradient Boosting achieved the highest Accuracy (76.7%) and F1 Score (0.688).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XG Boost provided competitive performance and ranked second overall.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Logistic Regression delivered strong baseline performance despite its simplicity.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Random Forest achieved the highest Precision (0.741) but lower Recall reduced its overall F1 Score.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Hyperparameter tuning improved XG Boost cross-validation performance but did not outperform Gradient Boosting on the validation dataset.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AF82832-C9B2-3F8B-3467-E42BB485007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48495A">
                <a:tint val="45000"/>
                <a:satMod val="400000"/>
              </a:srgbClr>
            </a:duotone>
            <a:alphaModFix/>
          </a:blip>
          <a:stretch>
            <a:fillRect/>
          </a:stretch>
        </p:blipFill>
        <p:spPr>
          <a:xfrm>
            <a:off x="0" y="811763"/>
            <a:ext cx="6964913" cy="3097764"/>
          </a:xfrm>
          <a:prstGeom prst="rect">
            <a:avLst/>
          </a:prstGeom>
          <a:noFill/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198619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1BFE8B5-1813-4B2C-2F4F-363965FBBE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11347" y="690465"/>
            <a:ext cx="5271796" cy="5962263"/>
          </a:xfrm>
        </p:spPr>
        <p:txBody>
          <a:bodyPr>
            <a:normAutofit lnSpcReduction="10000"/>
          </a:bodyPr>
          <a:lstStyle/>
          <a:p>
            <a:r>
              <a:rPr lang="en-US" sz="2400" b="1" dirty="0"/>
              <a:t>What is SHAP?</a:t>
            </a:r>
          </a:p>
          <a:p>
            <a:endParaRPr lang="en-US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SHAP (Shapley Additive exPlanations) was used to interpret model predictions.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It measures the contribution of each feature to the model output.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SHAP improves transparency and understanding of machine learning models.</a:t>
            </a:r>
          </a:p>
          <a:p>
            <a:endParaRPr lang="en-US" sz="2400" b="1" dirty="0"/>
          </a:p>
          <a:p>
            <a:r>
              <a:rPr lang="en-US" sz="2400" b="1" dirty="0"/>
              <a:t>Key Findings</a:t>
            </a:r>
          </a:p>
          <a:p>
            <a:endParaRPr lang="en-US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Doctor recommendation was the most influential feature.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Perceived vaccine effectiveness strongly influenced vaccination decisions.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Perceived H1N1 risk contributed significantly to model predictions.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Health-related and behavioral factors also affected vaccination likelihood.</a:t>
            </a:r>
            <a:endParaRPr lang="en-IN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7A6293D-FD26-B15C-2D57-820F6B650F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2707" y="288339"/>
            <a:ext cx="5996713" cy="663383"/>
          </a:xfrm>
        </p:spPr>
        <p:txBody>
          <a:bodyPr>
            <a:normAutofit fontScale="90000"/>
          </a:bodyPr>
          <a:lstStyle/>
          <a:p>
            <a:r>
              <a:rPr lang="en-IN" dirty="0"/>
              <a:t>Explainable AI (SHAP)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0CCC1907-DF3F-CD0C-850B-6FAA738FF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duotone>
              <a:prstClr val="black"/>
              <a:srgbClr val="48495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6327"/>
            <a:ext cx="6680718" cy="3415004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61A44E-B96B-A9A4-207E-DAA3E5CEA0D2}"/>
              </a:ext>
            </a:extLst>
          </p:cNvPr>
          <p:cNvSpPr txBox="1"/>
          <p:nvPr/>
        </p:nvSpPr>
        <p:spPr>
          <a:xfrm>
            <a:off x="202942" y="4795936"/>
            <a:ext cx="6097554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Why SHAP Matters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Helps explain model behavior.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Identifies the most influential predictors.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Increases trust and interpretability of predictions.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2035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B324D15-6480-BF98-FB5C-ACBF22107E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" y="1402080"/>
            <a:ext cx="12191999" cy="5916881"/>
          </a:xfrm>
        </p:spPr>
        <p:txBody>
          <a:bodyPr>
            <a:normAutofit/>
          </a:bodyPr>
          <a:lstStyle/>
          <a:p>
            <a:r>
              <a:rPr lang="en-US" sz="3200" dirty="0"/>
              <a:t>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Doctor recommendation was the strongest predictor of vaccination uptake.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Perceived vaccine effectiveness and perceived H1N1 risk significantly influenced vaccination behavior.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Ensemble learning approaches consistently outperformed the baseline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Careful preprocessing contributed substantially to model performance and stability.</a:t>
            </a:r>
          </a:p>
          <a:p>
            <a:r>
              <a:rPr lang="en-US" sz="3200" dirty="0"/>
              <a:t>Future Directions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Investigate advanced imputation techniques for highly incomplete features such as employment sector and health insurance.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Explore feature engineering techniques to capture additional behavioral and demographic patterns.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 Evaluate ensemble stacking and hybrid models to further improve predictive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Extend explainability analysis using local and global XAI techniques for deeper model interpretation.</a:t>
            </a:r>
          </a:p>
          <a:p>
            <a:r>
              <a:rPr lang="en-US" sz="3200" b="1" dirty="0"/>
              <a:t>Final Takeaway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The project demonstrates that combining effective preprocessing, ensemble machine learning models and Explainable AI techniques can produce accurate, interpretable and reliable predictions of H1N1 vaccination behavior.</a:t>
            </a:r>
            <a:endParaRPr lang="en-IN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54DEAB-DF1A-7593-3D5F-40B79032DE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270559"/>
            <a:ext cx="10972800" cy="786081"/>
          </a:xfrm>
        </p:spPr>
        <p:txBody>
          <a:bodyPr/>
          <a:lstStyle/>
          <a:p>
            <a:r>
              <a:rPr lang="en-IN" dirty="0"/>
              <a:t>Conclusion &amp; Future Directions</a:t>
            </a:r>
          </a:p>
        </p:txBody>
      </p:sp>
    </p:spTree>
    <p:extLst>
      <p:ext uri="{BB962C8B-B14F-4D97-AF65-F5344CB8AC3E}">
        <p14:creationId xmlns:p14="http://schemas.microsoft.com/office/powerpoint/2010/main" val="635355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80376-9B23-89DA-E56E-E3002766E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880" y="782638"/>
            <a:ext cx="10972800" cy="1143000"/>
          </a:xfrm>
        </p:spPr>
        <p:txBody>
          <a:bodyPr/>
          <a:lstStyle/>
          <a:p>
            <a:r>
              <a:rPr lang="en-IN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999704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cal design templat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dical design template" id="{BE883315-6697-4975-AEB2-5905098383C4}" vid="{D3CC9EF4-996F-4232-B765-B82F773B7949}"/>
    </a:ext>
  </a:extLst>
</a:theme>
</file>

<file path=ppt/theme/theme2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856783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2012-09-20T10:48:20+00:00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1622871</Value>
    </PublishStatusLookup>
    <APAuthor xmlns="4873beb7-5857-4685-be1f-d57550cc96cc">
      <UserInfo>
        <DisplayName>REDMOND\v-luannv</DisplayName>
        <AccountId>92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 xsi:nil="true"/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false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TP103460417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79EEAAAD-F811-4325-83A2-D14EDE05FB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0D1C9B0-FE26-433B-8E1A-54CCDFA4EB1D}">
  <ds:schemaRefs>
    <ds:schemaRef ds:uri="http://schemas.microsoft.com/office/2006/metadata/properties"/>
    <ds:schemaRef ds:uri="http://schemas.microsoft.com/office/infopath/2007/PartnerControls"/>
    <ds:schemaRef ds:uri="4873beb7-5857-4685-be1f-d57550cc96cc"/>
  </ds:schemaRefs>
</ds:datastoreItem>
</file>

<file path=customXml/itemProps3.xml><?xml version="1.0" encoding="utf-8"?>
<ds:datastoreItem xmlns:ds="http://schemas.openxmlformats.org/officeDocument/2006/customXml" ds:itemID="{100AC149-8447-4BE5-88C7-DBE24EA73E8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Medical presentation design slides</Template>
  <TotalTime>484</TotalTime>
  <Words>953</Words>
  <Application>Microsoft Office PowerPoint</Application>
  <PresentationFormat>Widescreen</PresentationFormat>
  <Paragraphs>204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Wingdings</vt:lpstr>
      <vt:lpstr>Wingdings 2</vt:lpstr>
      <vt:lpstr>Wingdings 3</vt:lpstr>
      <vt:lpstr>Medical design template</vt:lpstr>
      <vt:lpstr>H1N1 Vaccine Prediction Using Machine Learning </vt:lpstr>
      <vt:lpstr>PowerPoint Presentation</vt:lpstr>
      <vt:lpstr>Dataset Overview &amp; Exploratory Data Analysis</vt:lpstr>
      <vt:lpstr>Missing Values Analysis</vt:lpstr>
      <vt:lpstr>Correlation Analysis</vt:lpstr>
      <vt:lpstr>Project Workflow</vt:lpstr>
      <vt:lpstr>Machine Learning Models</vt:lpstr>
      <vt:lpstr>Model Performance Comparison</vt:lpstr>
      <vt:lpstr>Explainable AI (SHAP)</vt:lpstr>
      <vt:lpstr>Conclusion &amp; Future Directions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Group</dc:creator>
  <cp:lastModifiedBy>Varun Paka</cp:lastModifiedBy>
  <cp:revision>2</cp:revision>
  <dcterms:created xsi:type="dcterms:W3CDTF">2026-06-08T09:18:39Z</dcterms:created>
  <dcterms:modified xsi:type="dcterms:W3CDTF">2026-06-08T17:39:07Z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Order">
    <vt:r8>74064500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